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modernComment_101_0.xml" ContentType="application/vnd.ms-powerpoint.comments+xml"/>
  <Override PartName="/ppt/comments/modernComment_116_93DCAF6F.xml" ContentType="application/vnd.ms-powerpoint.comments+xml"/>
  <Override PartName="/ppt/notesSlides/notesSlide2.xml" ContentType="application/vnd.openxmlformats-officedocument.presentationml.notesSlide+xml"/>
  <Override PartName="/ppt/comments/modernComment_102_0.xml" ContentType="application/vnd.ms-powerpoint.comments+xml"/>
  <Override PartName="/ppt/comments/modernComment_104_0.xml" ContentType="application/vnd.ms-powerpoint.comments+xml"/>
  <Override PartName="/ppt/comments/modernComment_117_3BF66E3A.xml" ContentType="application/vnd.ms-powerpoint.comments+xml"/>
  <Override PartName="/ppt/comments/modernComment_11D_0.xml" ContentType="application/vnd.ms-powerpoint.comments+xml"/>
  <Override PartName="/ppt/comments/modernComment_123_5CA87AE5.xml" ContentType="application/vnd.ms-powerpoint.comments+xml"/>
  <Override PartName="/ppt/comments/modernComment_10A_0.xml" ContentType="application/vnd.ms-powerpoint.comments+xml"/>
  <Override PartName="/ppt/comments/modernComment_10B_0.xml" ContentType="application/vnd.ms-powerpoint.comments+xml"/>
  <Override PartName="/ppt/comments/modernComment_11E_0.xml" ContentType="application/vnd.ms-powerpoint.comments+xml"/>
  <Override PartName="/ppt/comments/modernComment_10E_0.xml" ContentType="application/vnd.ms-powerpoint.comments+xml"/>
  <Override PartName="/ppt/comments/modernComment_10F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4"/>
  </p:notesMasterIdLst>
  <p:handoutMasterIdLst>
    <p:handoutMasterId r:id="rId25"/>
  </p:handoutMasterIdLst>
  <p:sldIdLst>
    <p:sldId id="273" r:id="rId5"/>
    <p:sldId id="257" r:id="rId6"/>
    <p:sldId id="278" r:id="rId7"/>
    <p:sldId id="258" r:id="rId8"/>
    <p:sldId id="260" r:id="rId9"/>
    <p:sldId id="284" r:id="rId10"/>
    <p:sldId id="268" r:id="rId11"/>
    <p:sldId id="263" r:id="rId12"/>
    <p:sldId id="279" r:id="rId13"/>
    <p:sldId id="285" r:id="rId14"/>
    <p:sldId id="291" r:id="rId15"/>
    <p:sldId id="266" r:id="rId16"/>
    <p:sldId id="267" r:id="rId17"/>
    <p:sldId id="281" r:id="rId18"/>
    <p:sldId id="286" r:id="rId19"/>
    <p:sldId id="270" r:id="rId20"/>
    <p:sldId id="271"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73E6491-45F6-1D31-3A80-EA1FC7103554}" name="Marco Antonio Subion" initials="MS" userId="0726b182d3c119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0000"/>
    <a:srgbClr val="F282CA"/>
    <a:srgbClr val="F240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snapToObjects="1">
      <p:cViewPr varScale="1">
        <p:scale>
          <a:sx n="78" d="100"/>
          <a:sy n="78" d="100"/>
        </p:scale>
        <p:origin x="878" y="43"/>
      </p:cViewPr>
      <p:guideLst>
        <p:guide orient="horz" pos="2160"/>
        <p:guide pos="3840"/>
      </p:guideLst>
    </p:cSldViewPr>
  </p:slideViewPr>
  <p:notesTextViewPr>
    <p:cViewPr>
      <p:scale>
        <a:sx n="3" d="2"/>
        <a:sy n="3" d="2"/>
      </p:scale>
      <p:origin x="0" y="0"/>
    </p:cViewPr>
  </p:notesTextViewPr>
  <p:sorterViewPr>
    <p:cViewPr>
      <p:scale>
        <a:sx n="80" d="100"/>
        <a:sy n="80" d="100"/>
      </p:scale>
      <p:origin x="0" y="0"/>
    </p:cViewPr>
  </p:sorterViewPr>
  <p:notesViewPr>
    <p:cSldViewPr snapToGrid="0" snapToObjects="1">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8/10/relationships/authors" Target="author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EF65CAC5-5F51-4B21-83D7-0ABBF0A4DC30}" authorId="{273E6491-45F6-1D31-3A80-EA1FC7103554}" created="2026-03-23T10:08:03.516">
    <ac:deMkLst xmlns:ac="http://schemas.microsoft.com/office/drawing/2013/main/command">
      <pc:docMk xmlns:pc="http://schemas.microsoft.com/office/powerpoint/2013/main/command"/>
      <pc:sldMk xmlns:pc="http://schemas.microsoft.com/office/powerpoint/2013/main/command" cId="0" sldId="266"/>
      <ac:spMk id="3" creationId="{00000000-0000-0000-0000-000000000000}"/>
    </ac:deMkLst>
    <p188:txBody>
      <a:bodyPr/>
      <a:lstStyle/>
      <a:p>
        <a:r>
          <a:rPr lang="en-PH"/>
          <a:t>Screenshots
Key interactions
Insert UI screenshots and explain usability features.</a:t>
        </a:r>
      </a:p>
    </p188:txBody>
  </p188:cm>
</p188:cmLst>
</file>

<file path=ppt/comments/modernComment_10B_0.xml><?xml version="1.0" encoding="utf-8"?>
<p188:cmLst xmlns:a="http://schemas.openxmlformats.org/drawingml/2006/main" xmlns:r="http://schemas.openxmlformats.org/officeDocument/2006/relationships" xmlns:p188="http://schemas.microsoft.com/office/powerpoint/2018/8/main">
  <p188:cm id="{7A9DFDED-C277-44DD-9E0E-514DA8E872BD}" authorId="{273E6491-45F6-1D31-3A80-EA1FC7103554}" created="2026-03-23T10:04:18.493">
    <pc:sldMkLst xmlns:pc="http://schemas.microsoft.com/office/powerpoint/2013/main/command">
      <pc:docMk/>
      <pc:sldMk cId="0" sldId="267"/>
    </pc:sldMkLst>
    <p188:txBody>
      <a:bodyPr/>
      <a:lstStyle/>
      <a:p>
        <a:r>
          <a:rPr lang="en-PH"/>
          <a:t>Place User Acceptance Testing Results here.</a:t>
        </a:r>
      </a:p>
    </p188:txBody>
  </p188:cm>
</p188:cmLst>
</file>

<file path=ppt/comments/modernComment_10E_0.xml><?xml version="1.0" encoding="utf-8"?>
<p188:cmLst xmlns:a="http://schemas.openxmlformats.org/drawingml/2006/main" xmlns:r="http://schemas.openxmlformats.org/officeDocument/2006/relationships" xmlns:p188="http://schemas.microsoft.com/office/powerpoint/2018/8/main">
  <p188:cm id="{49804FEE-A565-4929-9955-DB9708E24E55}" authorId="{273E6491-45F6-1D31-3A80-EA1FC7103554}" created="2026-03-23T10:07:38.106">
    <ac:deMkLst xmlns:ac="http://schemas.microsoft.com/office/drawing/2013/main/command">
      <pc:docMk xmlns:pc="http://schemas.microsoft.com/office/powerpoint/2013/main/command"/>
      <pc:sldMk xmlns:pc="http://schemas.microsoft.com/office/powerpoint/2013/main/command" cId="0" sldId="270"/>
      <ac:spMk id="3" creationId="{00000000-0000-0000-0000-000000000000}"/>
    </ac:deMkLst>
    <p188:txBody>
      <a:bodyPr/>
      <a:lstStyle/>
      <a:p>
        <a:r>
          <a:rPr lang="en-PH"/>
          <a:t>Planned improvements
Scalability ideas
Suggest realistic next steps.</a:t>
        </a:r>
      </a:p>
    </p188:txBody>
  </p188:cm>
</p188:cmLst>
</file>

<file path=ppt/comments/modernComment_10F_0.xml><?xml version="1.0" encoding="utf-8"?>
<p188:cmLst xmlns:a="http://schemas.openxmlformats.org/drawingml/2006/main" xmlns:r="http://schemas.openxmlformats.org/officeDocument/2006/relationships" xmlns:p188="http://schemas.microsoft.com/office/powerpoint/2018/8/main">
  <p188:cm id="{BA46A4A5-52EB-4DA7-8F6F-760AE768D2D7}" authorId="{273E6491-45F6-1D31-3A80-EA1FC7103554}" created="2026-03-23T10:07:27.104">
    <ac:deMkLst xmlns:ac="http://schemas.microsoft.com/office/drawing/2013/main/command">
      <pc:docMk xmlns:pc="http://schemas.microsoft.com/office/powerpoint/2013/main/command"/>
      <pc:sldMk xmlns:pc="http://schemas.microsoft.com/office/powerpoint/2013/main/command" cId="0" sldId="271"/>
      <ac:spMk id="3" creationId="{00000000-0000-0000-0000-000000000000}"/>
    </ac:deMkLst>
    <p188:txBody>
      <a:bodyPr/>
      <a:lstStyle/>
      <a:p>
        <a:r>
          <a:rPr lang="en-PH"/>
          <a:t>Summary of project
Key takeaway
Reinforce the importance of your solution.</a:t>
        </a:r>
      </a:p>
    </p188:txBody>
  </p188:cm>
</p188:cmLst>
</file>

<file path=ppt/comments/modernComment_11D_0.xml><?xml version="1.0" encoding="utf-8"?>
<p188:cmLst xmlns:a="http://schemas.openxmlformats.org/drawingml/2006/main" xmlns:r="http://schemas.openxmlformats.org/officeDocument/2006/relationships" xmlns:p188="http://schemas.microsoft.com/office/powerpoint/2018/8/main">
  <p188:cm id="{B77A7816-626A-48D3-9CC7-B252845324FF}" authorId="{273E6491-45F6-1D31-3A80-EA1FC7103554}" created="2026-03-23T10:01:49.891">
    <ac:txMkLst xmlns:ac="http://schemas.microsoft.com/office/drawing/2013/main/command">
      <pc:docMk xmlns:pc="http://schemas.microsoft.com/office/powerpoint/2013/main/command"/>
      <pc:sldMk xmlns:pc="http://schemas.microsoft.com/office/powerpoint/2013/main/command" cId="0" sldId="285"/>
      <ac:spMk id="2" creationId="{00000000-0000-0000-0000-000000000000}"/>
      <ac:txMk cp="0" len="15">
        <ac:context len="16" hash="2728674769"/>
      </ac:txMk>
    </ac:txMkLst>
    <p188:pos x="4753510" y="475375"/>
    <p188:txBody>
      <a:bodyPr/>
      <a:lstStyle/>
      <a:p>
        <a:r>
          <a:rPr lang="en-PH"/>
          <a:t>Highlight core functionalities of your system.</a:t>
        </a:r>
      </a:p>
    </p188:txBody>
  </p188:cm>
</p188:cmLst>
</file>

<file path=ppt/comments/modernComment_11E_0.xml><?xml version="1.0" encoding="utf-8"?>
<p188:cmLst xmlns:a="http://schemas.openxmlformats.org/drawingml/2006/main" xmlns:r="http://schemas.openxmlformats.org/officeDocument/2006/relationships" xmlns:p188="http://schemas.microsoft.com/office/powerpoint/2018/8/main">
  <p188:cm id="{7A9DFDED-C277-44DD-9E0E-514DA8E872BD}" authorId="{273E6491-45F6-1D31-3A80-EA1FC7103554}" created="2026-03-23T10:04:18.493">
    <pc:sldMkLst xmlns:pc="http://schemas.microsoft.com/office/powerpoint/2013/main/command">
      <pc:docMk/>
      <pc:sldMk cId="0" sldId="267"/>
    </pc:sldMkLst>
    <p188:txBody>
      <a:bodyPr/>
      <a:lstStyle/>
      <a:p>
        <a:r>
          <a:rPr lang="en-PH"/>
          <a:t>Place results of users’ evaluation based on ISO 25010.</a:t>
        </a:r>
      </a:p>
    </p188:txBody>
  </p188:cm>
</p188:cmLst>
</file>

<file path=ppt/comments/modernComment_101_0.xml><?xml version="1.0" encoding="utf-8"?>
<p188:cmLst xmlns:a="http://schemas.openxmlformats.org/drawingml/2006/main" xmlns:r="http://schemas.openxmlformats.org/officeDocument/2006/relationships" xmlns:p188="http://schemas.microsoft.com/office/powerpoint/2018/8/main">
  <p188:cm id="{CCE2CC43-9A68-4359-B764-277689607B87}" authorId="{273E6491-45F6-1D31-3A80-EA1FC7103554}" created="2026-03-23T10:02:09.890">
    <ac:deMkLst xmlns:ac="http://schemas.microsoft.com/office/drawing/2013/main/command">
      <pc:docMk xmlns:pc="http://schemas.microsoft.com/office/powerpoint/2013/main/command"/>
      <pc:sldMk xmlns:pc="http://schemas.microsoft.com/office/powerpoint/2013/main/command" cId="0" sldId="257"/>
      <ac:spMk id="3" creationId="{00000000-0000-0000-0000-000000000000}"/>
    </ac:deMkLst>
    <p188:txBody>
      <a:bodyPr/>
      <a:lstStyle/>
      <a:p>
        <a:r>
          <a:rPr lang="en-PH"/>
          <a:t>Brief description of the system
Problem being solved
Client and Target users
Summarize your project in 3–4 concise bullet points.</a:t>
        </a:r>
      </a:p>
    </p188:txBody>
  </p188:cm>
</p188:cmLst>
</file>

<file path=ppt/comments/modernComment_102_0.xml><?xml version="1.0" encoding="utf-8"?>
<p188:cmLst xmlns:a="http://schemas.openxmlformats.org/drawingml/2006/main" xmlns:r="http://schemas.openxmlformats.org/officeDocument/2006/relationships" xmlns:p188="http://schemas.microsoft.com/office/powerpoint/2018/8/main">
  <p188:cm id="{9A1FAEC6-C50D-479F-8FE0-B723AE60C9CA}" authorId="{273E6491-45F6-1D31-3A80-EA1FC7103554}" created="2026-03-23T10:02:48.772">
    <ac:deMkLst xmlns:ac="http://schemas.microsoft.com/office/drawing/2013/main/command">
      <pc:docMk xmlns:pc="http://schemas.microsoft.com/office/powerpoint/2013/main/command"/>
      <pc:sldMk xmlns:pc="http://schemas.microsoft.com/office/powerpoint/2013/main/command" cId="0" sldId="258"/>
      <ac:spMk id="3" creationId="{00000000-0000-0000-0000-000000000000}"/>
    </ac:deMkLst>
    <p188:txBody>
      <a:bodyPr/>
      <a:lstStyle/>
      <a:p>
        <a:r>
          <a:rPr lang="en-PH"/>
          <a:t>What is the current issue?
Why is it important?
Who is affected?
Clearly define the real-world problem your system addresses.</a:t>
        </a:r>
      </a:p>
    </p188:txBody>
  </p188:cm>
</p188:cmLst>
</file>

<file path=ppt/comments/modernComment_104_0.xml><?xml version="1.0" encoding="utf-8"?>
<p188:cmLst xmlns:a="http://schemas.openxmlformats.org/drawingml/2006/main" xmlns:r="http://schemas.openxmlformats.org/officeDocument/2006/relationships" xmlns:p188="http://schemas.microsoft.com/office/powerpoint/2018/8/main">
  <p188:cm id="{5A4B074F-9AF8-4C4A-8796-68E18A21A48C}" authorId="{273E6491-45F6-1D31-3A80-EA1FC7103554}" created="2026-03-23T10:02:58.281">
    <ac:deMkLst xmlns:ac="http://schemas.microsoft.com/office/drawing/2013/main/command">
      <pc:docMk xmlns:pc="http://schemas.microsoft.com/office/powerpoint/2013/main/command"/>
      <pc:sldMk xmlns:pc="http://schemas.microsoft.com/office/powerpoint/2013/main/command" cId="0" sldId="260"/>
      <ac:spMk id="3" creationId="{00000000-0000-0000-0000-000000000000}"/>
    </ac:deMkLst>
    <p188:txBody>
      <a:bodyPr/>
      <a:lstStyle/>
      <a:p>
        <a:r>
          <a:rPr lang="en-PH"/>
          <a:t>Explain how your system solves the problem differently or better.</a:t>
        </a:r>
      </a:p>
    </p188:txBody>
  </p188:cm>
</p188:cmLst>
</file>

<file path=ppt/comments/modernComment_116_93DCAF6F.xml><?xml version="1.0" encoding="utf-8"?>
<p188:cmLst xmlns:a="http://schemas.openxmlformats.org/drawingml/2006/main" xmlns:r="http://schemas.openxmlformats.org/officeDocument/2006/relationships" xmlns:p188="http://schemas.microsoft.com/office/powerpoint/2018/8/main">
  <p188:cm id="{DF804AEE-66B5-411C-B72D-ABBDC8088B68}" authorId="{273E6491-45F6-1D31-3A80-EA1FC7103554}" created="2026-03-23T10:02:29.297">
    <ac:deMkLst xmlns:ac="http://schemas.microsoft.com/office/drawing/2013/main/command">
      <pc:docMk xmlns:pc="http://schemas.microsoft.com/office/powerpoint/2013/main/command"/>
      <pc:sldMk xmlns:pc="http://schemas.microsoft.com/office/powerpoint/2013/main/command" cId="2480713583" sldId="278"/>
      <ac:spMk id="3" creationId="{667B2897-25B9-5DD4-8AA6-47BD0F9F0397}"/>
    </ac:deMkLst>
    <p188:txBody>
      <a:bodyPr/>
      <a:lstStyle/>
      <a:p>
        <a:r>
          <a:rPr lang="en-PH"/>
          <a:t>Place here your RACI Matrix</a:t>
        </a:r>
      </a:p>
    </p188:txBody>
  </p188:cm>
</p188:cmLst>
</file>

<file path=ppt/comments/modernComment_117_3BF66E3A.xml><?xml version="1.0" encoding="utf-8"?>
<p188:cmLst xmlns:a="http://schemas.openxmlformats.org/drawingml/2006/main" xmlns:r="http://schemas.openxmlformats.org/officeDocument/2006/relationships" xmlns:p188="http://schemas.microsoft.com/office/powerpoint/2018/8/main">
  <p188:cm id="{D06BF64B-F5B3-4DA2-921E-B79E7AA4F6F2}" authorId="{273E6491-45F6-1D31-3A80-EA1FC7103554}" created="2026-03-23T10:01:32.750">
    <ac:txMkLst xmlns:ac="http://schemas.microsoft.com/office/drawing/2013/main/command">
      <pc:docMk xmlns:pc="http://schemas.microsoft.com/office/powerpoint/2013/main/command"/>
      <pc:sldMk xmlns:pc="http://schemas.microsoft.com/office/powerpoint/2013/main/command" cId="1006005818" sldId="279"/>
      <ac:spMk id="2" creationId="{AA2CF327-EFEA-C9C1-5659-C8E7C9659C28}"/>
      <ac:txMk cp="0" len="20">
        <ac:context len="21" hash="3447466793"/>
      </ac:txMk>
    </ac:txMkLst>
    <p188:pos x="5822022" y="475375"/>
    <p188:txBody>
      <a:bodyPr/>
      <a:lstStyle/>
      <a:p>
        <a:r>
          <a:rPr lang="en-PH"/>
          <a:t>Place here the problems that were experienced by the group and how they were solved if any. If none, declare that the group did not experience any risks arising within the project  development </a:t>
        </a:r>
      </a:p>
    </p188:txBody>
  </p188:cm>
</p188:cmLst>
</file>

<file path=ppt/comments/modernComment_123_5CA87AE5.xml><?xml version="1.0" encoding="utf-8"?>
<p188:cmLst xmlns:a="http://schemas.openxmlformats.org/drawingml/2006/main" xmlns:r="http://schemas.openxmlformats.org/officeDocument/2006/relationships" xmlns:p188="http://schemas.microsoft.com/office/powerpoint/2018/8/main">
  <p188:cm id="{58CB6B06-82DA-49AA-BB47-9123E3F826AE}" authorId="{273E6491-45F6-1D31-3A80-EA1FC7103554}" created="2026-03-23T10:01:49.891">
    <ac:txMkLst xmlns:ac="http://schemas.microsoft.com/office/drawing/2013/main/command">
      <pc:docMk xmlns:pc="http://schemas.microsoft.com/office/powerpoint/2013/main/command"/>
      <pc:sldMk xmlns:pc="http://schemas.microsoft.com/office/powerpoint/2013/main/command" cId="1554545381" sldId="291"/>
      <ac:spMk id="2" creationId="{68675FB2-801D-BC37-4FA2-10679FE44C59}"/>
      <ac:txMk cp="0">
        <ac:context len="32" hash="263888932"/>
      </ac:txMk>
    </ac:txMkLst>
    <p188:pos x="4753510" y="475375"/>
    <p188:txBody>
      <a:bodyPr/>
      <a:lstStyle/>
      <a:p>
        <a:r>
          <a:rPr lang="en-PH"/>
          <a:t>Describe the AI model used in your game application.</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CB05754-64C0-7B76-388B-3DD42494BCF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H"/>
          </a:p>
        </p:txBody>
      </p:sp>
      <p:sp>
        <p:nvSpPr>
          <p:cNvPr id="3" name="Date Placeholder 2">
            <a:extLst>
              <a:ext uri="{FF2B5EF4-FFF2-40B4-BE49-F238E27FC236}">
                <a16:creationId xmlns:a16="http://schemas.microsoft.com/office/drawing/2014/main" id="{0021C952-180D-0CCB-349A-1535C4266CC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1D921A4-2A8C-4752-A6F9-CEC27A3A545B}" type="datetimeFigureOut">
              <a:rPr lang="en-PH" smtClean="0"/>
              <a:t>4/29/2026</a:t>
            </a:fld>
            <a:endParaRPr lang="en-PH"/>
          </a:p>
        </p:txBody>
      </p:sp>
      <p:sp>
        <p:nvSpPr>
          <p:cNvPr id="4" name="Footer Placeholder 3">
            <a:extLst>
              <a:ext uri="{FF2B5EF4-FFF2-40B4-BE49-F238E27FC236}">
                <a16:creationId xmlns:a16="http://schemas.microsoft.com/office/drawing/2014/main" id="{5BE7C61D-5B7B-FD44-2F9F-BE347ECF8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PH"/>
          </a:p>
        </p:txBody>
      </p:sp>
      <p:sp>
        <p:nvSpPr>
          <p:cNvPr id="5" name="Slide Number Placeholder 4">
            <a:extLst>
              <a:ext uri="{FF2B5EF4-FFF2-40B4-BE49-F238E27FC236}">
                <a16:creationId xmlns:a16="http://schemas.microsoft.com/office/drawing/2014/main" id="{78E4491A-80F7-9927-6DAC-FADAD1E9365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CA0A52-C400-4E97-8811-7265CC3E1DCE}" type="slidenum">
              <a:rPr lang="en-PH" smtClean="0"/>
              <a:t>‹#›</a:t>
            </a:fld>
            <a:endParaRPr lang="en-PH"/>
          </a:p>
        </p:txBody>
      </p:sp>
    </p:spTree>
    <p:extLst>
      <p:ext uri="{BB962C8B-B14F-4D97-AF65-F5344CB8AC3E}">
        <p14:creationId xmlns:p14="http://schemas.microsoft.com/office/powerpoint/2010/main" val="41183917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9FD228-1D3F-49F5-829B-846179C325C2}" type="datetimeFigureOut">
              <a:rPr lang="en-PH" smtClean="0"/>
              <a:t>4/29/2026</a:t>
            </a:fld>
            <a:endParaRPr lang="en-P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715677-04B0-457A-A181-7356C3A81838}" type="slidenum">
              <a:rPr lang="en-PH" smtClean="0"/>
              <a:t>‹#›</a:t>
            </a:fld>
            <a:endParaRPr lang="en-PH"/>
          </a:p>
        </p:txBody>
      </p:sp>
    </p:spTree>
    <p:extLst>
      <p:ext uri="{BB962C8B-B14F-4D97-AF65-F5344CB8AC3E}">
        <p14:creationId xmlns:p14="http://schemas.microsoft.com/office/powerpoint/2010/main" val="1494364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CE715677-04B0-457A-A181-7356C3A81838}" type="slidenum">
              <a:rPr lang="en-PH" smtClean="0"/>
              <a:t>1</a:t>
            </a:fld>
            <a:endParaRPr lang="en-PH"/>
          </a:p>
        </p:txBody>
      </p:sp>
    </p:spTree>
    <p:extLst>
      <p:ext uri="{BB962C8B-B14F-4D97-AF65-F5344CB8AC3E}">
        <p14:creationId xmlns:p14="http://schemas.microsoft.com/office/powerpoint/2010/main" val="30607930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CE715677-04B0-457A-A181-7356C3A81838}" type="slidenum">
              <a:rPr lang="en-PH" smtClean="0"/>
              <a:t>4</a:t>
            </a:fld>
            <a:endParaRPr lang="en-PH"/>
          </a:p>
        </p:txBody>
      </p:sp>
    </p:spTree>
    <p:extLst>
      <p:ext uri="{BB962C8B-B14F-4D97-AF65-F5344CB8AC3E}">
        <p14:creationId xmlns:p14="http://schemas.microsoft.com/office/powerpoint/2010/main" val="31300427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430632" y="2441552"/>
            <a:ext cx="10363200" cy="1470025"/>
          </a:xfrm>
        </p:spPr>
        <p:txBody>
          <a:bodyPr/>
          <a:lstStyle>
            <a:lvl1pPr algn="l">
              <a:defRPr b="1">
                <a:latin typeface="Arial" panose="020B0604020202020204" pitchFamily="34" charset="0"/>
                <a:cs typeface="Arial"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430632" y="4008790"/>
            <a:ext cx="8534400" cy="761215"/>
          </a:xfrm>
        </p:spPr>
        <p:txBody>
          <a:bodyPr/>
          <a:lstStyle>
            <a:lvl1pPr marL="0" indent="0" algn="l">
              <a:buNone/>
              <a:defRPr i="1">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grpSp>
        <p:nvGrpSpPr>
          <p:cNvPr id="8" name="Group 7">
            <a:extLst>
              <a:ext uri="{FF2B5EF4-FFF2-40B4-BE49-F238E27FC236}">
                <a16:creationId xmlns:a16="http://schemas.microsoft.com/office/drawing/2014/main" id="{6E6EF54A-7945-852E-198E-496D224DBB0C}"/>
              </a:ext>
            </a:extLst>
          </p:cNvPr>
          <p:cNvGrpSpPr/>
          <p:nvPr userDrawn="1"/>
        </p:nvGrpSpPr>
        <p:grpSpPr>
          <a:xfrm>
            <a:off x="-784349" y="-90075"/>
            <a:ext cx="13722166" cy="7511836"/>
            <a:chOff x="-784349" y="-90075"/>
            <a:chExt cx="13722166" cy="7511836"/>
          </a:xfrm>
        </p:grpSpPr>
        <p:grpSp>
          <p:nvGrpSpPr>
            <p:cNvPr id="27" name="Group 26">
              <a:extLst>
                <a:ext uri="{FF2B5EF4-FFF2-40B4-BE49-F238E27FC236}">
                  <a16:creationId xmlns:a16="http://schemas.microsoft.com/office/drawing/2014/main" id="{98F13D32-7ADE-7C8A-F072-56EB9CA8AB2E}"/>
                </a:ext>
              </a:extLst>
            </p:cNvPr>
            <p:cNvGrpSpPr/>
            <p:nvPr userDrawn="1"/>
          </p:nvGrpSpPr>
          <p:grpSpPr>
            <a:xfrm rot="16200000" flipV="1">
              <a:off x="9221778" y="151177"/>
              <a:ext cx="3957292" cy="3474787"/>
              <a:chOff x="8986626" y="-275031"/>
              <a:chExt cx="3957292" cy="3389149"/>
            </a:xfrm>
          </p:grpSpPr>
          <p:sp>
            <p:nvSpPr>
              <p:cNvPr id="28" name="Flowchart: Decision 27">
                <a:extLst>
                  <a:ext uri="{FF2B5EF4-FFF2-40B4-BE49-F238E27FC236}">
                    <a16:creationId xmlns:a16="http://schemas.microsoft.com/office/drawing/2014/main" id="{EC9CFC8D-E9C5-71A3-29B8-F252FAC80845}"/>
                  </a:ext>
                </a:extLst>
              </p:cNvPr>
              <p:cNvSpPr/>
              <p:nvPr userDrawn="1"/>
            </p:nvSpPr>
            <p:spPr>
              <a:xfrm>
                <a:off x="8986626" y="95299"/>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29" name="Flowchart: Decision 28">
                <a:extLst>
                  <a:ext uri="{FF2B5EF4-FFF2-40B4-BE49-F238E27FC236}">
                    <a16:creationId xmlns:a16="http://schemas.microsoft.com/office/drawing/2014/main" id="{D0559E35-73B9-C07D-E1C1-4D5C7819B479}"/>
                  </a:ext>
                </a:extLst>
              </p:cNvPr>
              <p:cNvSpPr/>
              <p:nvPr userDrawn="1"/>
            </p:nvSpPr>
            <p:spPr>
              <a:xfrm>
                <a:off x="10070445" y="807399"/>
                <a:ext cx="1645501" cy="162141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30" name="Flowchart: Decision 29">
                <a:extLst>
                  <a:ext uri="{FF2B5EF4-FFF2-40B4-BE49-F238E27FC236}">
                    <a16:creationId xmlns:a16="http://schemas.microsoft.com/office/drawing/2014/main" id="{FEF03FC5-ACF7-BBFC-072F-1A296B712AEF}"/>
                  </a:ext>
                </a:extLst>
              </p:cNvPr>
              <p:cNvSpPr/>
              <p:nvPr userDrawn="1"/>
            </p:nvSpPr>
            <p:spPr>
              <a:xfrm>
                <a:off x="10429973" y="-275031"/>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31" name="Flowchart: Decision 30">
                <a:extLst>
                  <a:ext uri="{FF2B5EF4-FFF2-40B4-BE49-F238E27FC236}">
                    <a16:creationId xmlns:a16="http://schemas.microsoft.com/office/drawing/2014/main" id="{1FB129F6-4CBD-33D5-7DE9-5EFF3151ED29}"/>
                  </a:ext>
                </a:extLst>
              </p:cNvPr>
              <p:cNvSpPr/>
              <p:nvPr userDrawn="1"/>
            </p:nvSpPr>
            <p:spPr>
              <a:xfrm>
                <a:off x="11298417" y="263949"/>
                <a:ext cx="1645501" cy="162141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dirty="0"/>
              </a:p>
            </p:txBody>
          </p:sp>
          <p:sp>
            <p:nvSpPr>
              <p:cNvPr id="32" name="Flowchart: Decision 31">
                <a:extLst>
                  <a:ext uri="{FF2B5EF4-FFF2-40B4-BE49-F238E27FC236}">
                    <a16:creationId xmlns:a16="http://schemas.microsoft.com/office/drawing/2014/main" id="{8E8FCDDC-3968-72FB-1DDA-B5DDCCDEE16B}"/>
                  </a:ext>
                </a:extLst>
              </p:cNvPr>
              <p:cNvSpPr/>
              <p:nvPr userDrawn="1"/>
            </p:nvSpPr>
            <p:spPr>
              <a:xfrm>
                <a:off x="11154264" y="1492707"/>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grpSp>
        <p:grpSp>
          <p:nvGrpSpPr>
            <p:cNvPr id="15" name="Group 14">
              <a:extLst>
                <a:ext uri="{FF2B5EF4-FFF2-40B4-BE49-F238E27FC236}">
                  <a16:creationId xmlns:a16="http://schemas.microsoft.com/office/drawing/2014/main" id="{3E3B4E7E-3B81-B48B-45B1-A7C9DB265366}"/>
                </a:ext>
              </a:extLst>
            </p:cNvPr>
            <p:cNvGrpSpPr/>
            <p:nvPr userDrawn="1"/>
          </p:nvGrpSpPr>
          <p:grpSpPr>
            <a:xfrm rot="5400000" flipV="1">
              <a:off x="-1025601" y="3705721"/>
              <a:ext cx="3957292" cy="3474787"/>
              <a:chOff x="8986626" y="-275031"/>
              <a:chExt cx="3957292" cy="3389149"/>
            </a:xfrm>
          </p:grpSpPr>
          <p:sp>
            <p:nvSpPr>
              <p:cNvPr id="16" name="Flowchart: Decision 15">
                <a:extLst>
                  <a:ext uri="{FF2B5EF4-FFF2-40B4-BE49-F238E27FC236}">
                    <a16:creationId xmlns:a16="http://schemas.microsoft.com/office/drawing/2014/main" id="{A46260AE-72F3-B222-410A-BC28C1A2E456}"/>
                  </a:ext>
                </a:extLst>
              </p:cNvPr>
              <p:cNvSpPr/>
              <p:nvPr userDrawn="1"/>
            </p:nvSpPr>
            <p:spPr>
              <a:xfrm>
                <a:off x="8986626" y="95299"/>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17" name="Flowchart: Decision 16">
                <a:extLst>
                  <a:ext uri="{FF2B5EF4-FFF2-40B4-BE49-F238E27FC236}">
                    <a16:creationId xmlns:a16="http://schemas.microsoft.com/office/drawing/2014/main" id="{1994164B-19E6-070A-15DE-23AD7B07B2C2}"/>
                  </a:ext>
                </a:extLst>
              </p:cNvPr>
              <p:cNvSpPr/>
              <p:nvPr userDrawn="1"/>
            </p:nvSpPr>
            <p:spPr>
              <a:xfrm>
                <a:off x="10070445" y="807399"/>
                <a:ext cx="1645501" cy="162141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18" name="Flowchart: Decision 17">
                <a:extLst>
                  <a:ext uri="{FF2B5EF4-FFF2-40B4-BE49-F238E27FC236}">
                    <a16:creationId xmlns:a16="http://schemas.microsoft.com/office/drawing/2014/main" id="{B7757013-F15C-1EEC-21FB-F919AD98FAAA}"/>
                  </a:ext>
                </a:extLst>
              </p:cNvPr>
              <p:cNvSpPr/>
              <p:nvPr userDrawn="1"/>
            </p:nvSpPr>
            <p:spPr>
              <a:xfrm>
                <a:off x="10429973" y="-275031"/>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19" name="Flowchart: Decision 18">
                <a:extLst>
                  <a:ext uri="{FF2B5EF4-FFF2-40B4-BE49-F238E27FC236}">
                    <a16:creationId xmlns:a16="http://schemas.microsoft.com/office/drawing/2014/main" id="{3E5D0585-EDC2-A22E-B51B-E06ABB0A8E4D}"/>
                  </a:ext>
                </a:extLst>
              </p:cNvPr>
              <p:cNvSpPr/>
              <p:nvPr userDrawn="1"/>
            </p:nvSpPr>
            <p:spPr>
              <a:xfrm>
                <a:off x="11298417" y="263949"/>
                <a:ext cx="1645501" cy="162141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20" name="Flowchart: Decision 19">
                <a:extLst>
                  <a:ext uri="{FF2B5EF4-FFF2-40B4-BE49-F238E27FC236}">
                    <a16:creationId xmlns:a16="http://schemas.microsoft.com/office/drawing/2014/main" id="{5AF8F57E-105C-FF35-1DA6-C9441265B01A}"/>
                  </a:ext>
                </a:extLst>
              </p:cNvPr>
              <p:cNvSpPr/>
              <p:nvPr userDrawn="1"/>
            </p:nvSpPr>
            <p:spPr>
              <a:xfrm>
                <a:off x="11154264" y="1492707"/>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grpSp>
        <p:grpSp>
          <p:nvGrpSpPr>
            <p:cNvPr id="7" name="Group 6">
              <a:extLst>
                <a:ext uri="{FF2B5EF4-FFF2-40B4-BE49-F238E27FC236}">
                  <a16:creationId xmlns:a16="http://schemas.microsoft.com/office/drawing/2014/main" id="{B7C1C01A-E793-FE6C-B46B-8707B9BF7BF5}"/>
                </a:ext>
              </a:extLst>
            </p:cNvPr>
            <p:cNvGrpSpPr/>
            <p:nvPr userDrawn="1"/>
          </p:nvGrpSpPr>
          <p:grpSpPr>
            <a:xfrm>
              <a:off x="275255" y="117125"/>
              <a:ext cx="3940857" cy="1740954"/>
              <a:chOff x="275255" y="117125"/>
              <a:chExt cx="3940857" cy="1740954"/>
            </a:xfrm>
          </p:grpSpPr>
          <p:grpSp>
            <p:nvGrpSpPr>
              <p:cNvPr id="24" name="Group 23">
                <a:extLst>
                  <a:ext uri="{FF2B5EF4-FFF2-40B4-BE49-F238E27FC236}">
                    <a16:creationId xmlns:a16="http://schemas.microsoft.com/office/drawing/2014/main" id="{2D467C81-6E54-762A-EE2F-2DE96F348C14}"/>
                  </a:ext>
                </a:extLst>
              </p:cNvPr>
              <p:cNvGrpSpPr/>
              <p:nvPr userDrawn="1"/>
            </p:nvGrpSpPr>
            <p:grpSpPr>
              <a:xfrm>
                <a:off x="1480811" y="253867"/>
                <a:ext cx="2735301" cy="1487087"/>
                <a:chOff x="1480811" y="253867"/>
                <a:chExt cx="2735301" cy="1487087"/>
              </a:xfrm>
            </p:grpSpPr>
            <p:sp>
              <p:nvSpPr>
                <p:cNvPr id="21" name="TextBox 20">
                  <a:extLst>
                    <a:ext uri="{FF2B5EF4-FFF2-40B4-BE49-F238E27FC236}">
                      <a16:creationId xmlns:a16="http://schemas.microsoft.com/office/drawing/2014/main" id="{B06FE650-DD14-C1CC-AB99-50FE640CA163}"/>
                    </a:ext>
                  </a:extLst>
                </p:cNvPr>
                <p:cNvSpPr txBox="1"/>
                <p:nvPr userDrawn="1"/>
              </p:nvSpPr>
              <p:spPr>
                <a:xfrm>
                  <a:off x="1480811" y="253867"/>
                  <a:ext cx="2735301" cy="646331"/>
                </a:xfrm>
                <a:prstGeom prst="rect">
                  <a:avLst/>
                </a:prstGeom>
                <a:noFill/>
              </p:spPr>
              <p:txBody>
                <a:bodyPr wrap="none" rtlCol="0">
                  <a:spAutoFit/>
                </a:bodyPr>
                <a:lstStyle/>
                <a:p>
                  <a:r>
                    <a:rPr lang="en-PH" sz="3600" b="1" dirty="0">
                      <a:solidFill>
                        <a:srgbClr val="7E0000"/>
                      </a:solidFill>
                      <a:latin typeface="Arial Black" panose="020B0A04020102020204" pitchFamily="34" charset="0"/>
                    </a:rPr>
                    <a:t>College of</a:t>
                  </a:r>
                </a:p>
              </p:txBody>
            </p:sp>
            <p:sp>
              <p:nvSpPr>
                <p:cNvPr id="22" name="TextBox 21">
                  <a:extLst>
                    <a:ext uri="{FF2B5EF4-FFF2-40B4-BE49-F238E27FC236}">
                      <a16:creationId xmlns:a16="http://schemas.microsoft.com/office/drawing/2014/main" id="{EAA4F2C9-8DD4-3216-3C08-D59650974FC2}"/>
                    </a:ext>
                  </a:extLst>
                </p:cNvPr>
                <p:cNvSpPr txBox="1"/>
                <p:nvPr userDrawn="1"/>
              </p:nvSpPr>
              <p:spPr>
                <a:xfrm>
                  <a:off x="1494147" y="674245"/>
                  <a:ext cx="2646878" cy="646331"/>
                </a:xfrm>
                <a:prstGeom prst="rect">
                  <a:avLst/>
                </a:prstGeom>
                <a:noFill/>
              </p:spPr>
              <p:txBody>
                <a:bodyPr wrap="none" rtlCol="0">
                  <a:spAutoFit/>
                </a:bodyPr>
                <a:lstStyle/>
                <a:p>
                  <a:r>
                    <a:rPr lang="en-PH" sz="3600" b="1" dirty="0">
                      <a:solidFill>
                        <a:srgbClr val="7E0000"/>
                      </a:solidFill>
                      <a:latin typeface="Arial Black" panose="020B0A04020102020204" pitchFamily="34" charset="0"/>
                    </a:rPr>
                    <a:t>Computer</a:t>
                  </a:r>
                </a:p>
              </p:txBody>
            </p:sp>
            <p:sp>
              <p:nvSpPr>
                <p:cNvPr id="23" name="TextBox 22">
                  <a:extLst>
                    <a:ext uri="{FF2B5EF4-FFF2-40B4-BE49-F238E27FC236}">
                      <a16:creationId xmlns:a16="http://schemas.microsoft.com/office/drawing/2014/main" id="{C95C1B38-4DFC-D820-142C-780CD65F9816}"/>
                    </a:ext>
                  </a:extLst>
                </p:cNvPr>
                <p:cNvSpPr txBox="1"/>
                <p:nvPr userDrawn="1"/>
              </p:nvSpPr>
              <p:spPr>
                <a:xfrm>
                  <a:off x="1480811" y="1094623"/>
                  <a:ext cx="2082621" cy="646331"/>
                </a:xfrm>
                <a:prstGeom prst="rect">
                  <a:avLst/>
                </a:prstGeom>
                <a:noFill/>
              </p:spPr>
              <p:txBody>
                <a:bodyPr wrap="none" rtlCol="0">
                  <a:spAutoFit/>
                </a:bodyPr>
                <a:lstStyle/>
                <a:p>
                  <a:r>
                    <a:rPr lang="en-PH" sz="3600" b="1" dirty="0">
                      <a:solidFill>
                        <a:srgbClr val="7E0000"/>
                      </a:solidFill>
                      <a:latin typeface="Arial Black" panose="020B0A04020102020204" pitchFamily="34" charset="0"/>
                    </a:rPr>
                    <a:t>Studies</a:t>
                  </a:r>
                </a:p>
              </p:txBody>
            </p:sp>
          </p:grpSp>
          <p:pic>
            <p:nvPicPr>
              <p:cNvPr id="5" name="Picture 4">
                <a:extLst>
                  <a:ext uri="{FF2B5EF4-FFF2-40B4-BE49-F238E27FC236}">
                    <a16:creationId xmlns:a16="http://schemas.microsoft.com/office/drawing/2014/main" id="{09E94620-AECE-83CD-CAD3-12BEFF030B92}"/>
                  </a:ext>
                </a:extLst>
              </p:cNvPr>
              <p:cNvPicPr>
                <a:picLocks noChangeAspect="1"/>
              </p:cNvPicPr>
              <p:nvPr userDrawn="1"/>
            </p:nvPicPr>
            <p:blipFill>
              <a:blip r:embed="rId2"/>
              <a:stretch>
                <a:fillRect/>
              </a:stretch>
            </p:blipFill>
            <p:spPr>
              <a:xfrm>
                <a:off x="275255" y="117125"/>
                <a:ext cx="1205556" cy="1740954"/>
              </a:xfrm>
              <a:prstGeom prst="rect">
                <a:avLst/>
              </a:prstGeom>
            </p:spPr>
          </p:pic>
        </p:grpSp>
      </p:gr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b="1">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grpSp>
        <p:nvGrpSpPr>
          <p:cNvPr id="11" name="Group 10">
            <a:extLst>
              <a:ext uri="{FF2B5EF4-FFF2-40B4-BE49-F238E27FC236}">
                <a16:creationId xmlns:a16="http://schemas.microsoft.com/office/drawing/2014/main" id="{42944C5E-03C2-4C0E-3294-9EA8AA7D1108}"/>
              </a:ext>
            </a:extLst>
          </p:cNvPr>
          <p:cNvGrpSpPr/>
          <p:nvPr userDrawn="1"/>
        </p:nvGrpSpPr>
        <p:grpSpPr>
          <a:xfrm>
            <a:off x="-505758" y="136524"/>
            <a:ext cx="12420811" cy="7530657"/>
            <a:chOff x="-505758" y="136524"/>
            <a:chExt cx="12420811" cy="7530657"/>
          </a:xfrm>
        </p:grpSpPr>
        <p:sp>
          <p:nvSpPr>
            <p:cNvPr id="4" name="Flowchart: Decision 3">
              <a:extLst>
                <a:ext uri="{FF2B5EF4-FFF2-40B4-BE49-F238E27FC236}">
                  <a16:creationId xmlns:a16="http://schemas.microsoft.com/office/drawing/2014/main" id="{E31B5161-BC3E-13EC-2E54-EFADA7F4808C}"/>
                </a:ext>
              </a:extLst>
            </p:cNvPr>
            <p:cNvSpPr/>
            <p:nvPr userDrawn="1"/>
          </p:nvSpPr>
          <p:spPr>
            <a:xfrm rot="5400000" flipV="1">
              <a:off x="-497318" y="4929421"/>
              <a:ext cx="1645501" cy="166238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5" name="Flowchart: Decision 4">
              <a:extLst>
                <a:ext uri="{FF2B5EF4-FFF2-40B4-BE49-F238E27FC236}">
                  <a16:creationId xmlns:a16="http://schemas.microsoft.com/office/drawing/2014/main" id="{8AD8C93E-30B3-E825-821E-F1CD58D3D6F1}"/>
                </a:ext>
              </a:extLst>
            </p:cNvPr>
            <p:cNvSpPr/>
            <p:nvPr userDrawn="1"/>
          </p:nvSpPr>
          <p:spPr>
            <a:xfrm rot="5400000" flipV="1">
              <a:off x="232776" y="6013240"/>
              <a:ext cx="1645501" cy="166238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pic>
          <p:nvPicPr>
            <p:cNvPr id="10" name="Picture 9">
              <a:extLst>
                <a:ext uri="{FF2B5EF4-FFF2-40B4-BE49-F238E27FC236}">
                  <a16:creationId xmlns:a16="http://schemas.microsoft.com/office/drawing/2014/main" id="{69513EC2-38C5-8C42-4337-72958EAFB2CC}"/>
                </a:ext>
              </a:extLst>
            </p:cNvPr>
            <p:cNvPicPr>
              <a:picLocks noChangeAspect="1"/>
            </p:cNvPicPr>
            <p:nvPr userDrawn="1"/>
          </p:nvPicPr>
          <p:blipFill>
            <a:blip r:embed="rId2"/>
            <a:stretch>
              <a:fillRect/>
            </a:stretch>
          </p:blipFill>
          <p:spPr>
            <a:xfrm>
              <a:off x="11027922" y="136524"/>
              <a:ext cx="887131" cy="1281114"/>
            </a:xfrm>
            <a:prstGeom prst="rect">
              <a:avLst/>
            </a:prstGeom>
          </p:spPr>
        </p:pic>
      </p:gr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355" y="3335565"/>
            <a:ext cx="9789394" cy="690585"/>
          </a:xfrm>
        </p:spPr>
        <p:txBody>
          <a:bodyPr anchor="t"/>
          <a:lstStyle>
            <a:lvl1pPr algn="l">
              <a:defRPr sz="4000" b="1" cap="all">
                <a:latin typeface="Arial" panose="020B0604020202020204" pitchFamily="34" charset="0"/>
                <a:cs typeface="Arial" panose="020B0604020202020204" pitchFamily="34" charset="0"/>
              </a:defRPr>
            </a:lvl1pPr>
          </a:lstStyle>
          <a:p>
            <a:r>
              <a:rPr lang="en-US" dirty="0"/>
              <a:t>Click to edit Master title style</a:t>
            </a:r>
          </a:p>
        </p:txBody>
      </p:sp>
      <p:sp>
        <p:nvSpPr>
          <p:cNvPr id="3" name="Text Placeholder 2"/>
          <p:cNvSpPr>
            <a:spLocks noGrp="1"/>
          </p:cNvSpPr>
          <p:nvPr>
            <p:ph type="body" idx="1"/>
          </p:nvPr>
        </p:nvSpPr>
        <p:spPr>
          <a:xfrm>
            <a:off x="1106355" y="2766771"/>
            <a:ext cx="9789394" cy="543449"/>
          </a:xfrm>
        </p:spPr>
        <p:txBody>
          <a:bodyPr anchor="b"/>
          <a:lstStyle>
            <a:lvl1pPr marL="0" indent="0">
              <a:buNone/>
              <a:defRPr sz="2000" i="1">
                <a:solidFill>
                  <a:schemeClr val="tx1"/>
                </a:solidFill>
                <a:latin typeface="Arial" panose="020B0604020202020204" pitchFamily="34" charset="0"/>
                <a:cs typeface="Arial" panose="020B0604020202020204" pitchFamily="34" charset="0"/>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grpSp>
        <p:nvGrpSpPr>
          <p:cNvPr id="22" name="Group 21">
            <a:extLst>
              <a:ext uri="{FF2B5EF4-FFF2-40B4-BE49-F238E27FC236}">
                <a16:creationId xmlns:a16="http://schemas.microsoft.com/office/drawing/2014/main" id="{C9057221-101B-7F3D-69DC-954C3C30FA0A}"/>
              </a:ext>
            </a:extLst>
          </p:cNvPr>
          <p:cNvGrpSpPr/>
          <p:nvPr userDrawn="1"/>
        </p:nvGrpSpPr>
        <p:grpSpPr>
          <a:xfrm>
            <a:off x="-784349" y="-90075"/>
            <a:ext cx="13722166" cy="7511836"/>
            <a:chOff x="-784349" y="-90075"/>
            <a:chExt cx="13722166" cy="7511836"/>
          </a:xfrm>
        </p:grpSpPr>
        <p:grpSp>
          <p:nvGrpSpPr>
            <p:cNvPr id="23" name="Group 22">
              <a:extLst>
                <a:ext uri="{FF2B5EF4-FFF2-40B4-BE49-F238E27FC236}">
                  <a16:creationId xmlns:a16="http://schemas.microsoft.com/office/drawing/2014/main" id="{077117F7-61C9-C973-0C92-4801CC385550}"/>
                </a:ext>
              </a:extLst>
            </p:cNvPr>
            <p:cNvGrpSpPr/>
            <p:nvPr userDrawn="1"/>
          </p:nvGrpSpPr>
          <p:grpSpPr>
            <a:xfrm rot="16200000" flipV="1">
              <a:off x="9221778" y="151177"/>
              <a:ext cx="3957292" cy="3474787"/>
              <a:chOff x="8986626" y="-275031"/>
              <a:chExt cx="3957292" cy="3389149"/>
            </a:xfrm>
          </p:grpSpPr>
          <p:sp>
            <p:nvSpPr>
              <p:cNvPr id="36" name="Flowchart: Decision 35">
                <a:extLst>
                  <a:ext uri="{FF2B5EF4-FFF2-40B4-BE49-F238E27FC236}">
                    <a16:creationId xmlns:a16="http://schemas.microsoft.com/office/drawing/2014/main" id="{8AC7B4A8-63DC-0070-53FC-F569DDECA594}"/>
                  </a:ext>
                </a:extLst>
              </p:cNvPr>
              <p:cNvSpPr/>
              <p:nvPr userDrawn="1"/>
            </p:nvSpPr>
            <p:spPr>
              <a:xfrm>
                <a:off x="8986626" y="95299"/>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37" name="Flowchart: Decision 36">
                <a:extLst>
                  <a:ext uri="{FF2B5EF4-FFF2-40B4-BE49-F238E27FC236}">
                    <a16:creationId xmlns:a16="http://schemas.microsoft.com/office/drawing/2014/main" id="{9AAD74DA-4E2B-73DA-2205-5B42FA77D2C8}"/>
                  </a:ext>
                </a:extLst>
              </p:cNvPr>
              <p:cNvSpPr/>
              <p:nvPr userDrawn="1"/>
            </p:nvSpPr>
            <p:spPr>
              <a:xfrm>
                <a:off x="10070445" y="807399"/>
                <a:ext cx="1645501" cy="162141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38" name="Flowchart: Decision 37">
                <a:extLst>
                  <a:ext uri="{FF2B5EF4-FFF2-40B4-BE49-F238E27FC236}">
                    <a16:creationId xmlns:a16="http://schemas.microsoft.com/office/drawing/2014/main" id="{D3D4E84E-C127-88F3-3E36-C36ABF59019D}"/>
                  </a:ext>
                </a:extLst>
              </p:cNvPr>
              <p:cNvSpPr/>
              <p:nvPr userDrawn="1"/>
            </p:nvSpPr>
            <p:spPr>
              <a:xfrm>
                <a:off x="10429973" y="-275031"/>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39" name="Flowchart: Decision 38">
                <a:extLst>
                  <a:ext uri="{FF2B5EF4-FFF2-40B4-BE49-F238E27FC236}">
                    <a16:creationId xmlns:a16="http://schemas.microsoft.com/office/drawing/2014/main" id="{0FBBA1E3-DA1B-5556-CA85-FA5BF5D9A4F7}"/>
                  </a:ext>
                </a:extLst>
              </p:cNvPr>
              <p:cNvSpPr/>
              <p:nvPr userDrawn="1"/>
            </p:nvSpPr>
            <p:spPr>
              <a:xfrm>
                <a:off x="11298417" y="263949"/>
                <a:ext cx="1645501" cy="162141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dirty="0"/>
              </a:p>
            </p:txBody>
          </p:sp>
          <p:sp>
            <p:nvSpPr>
              <p:cNvPr id="40" name="Flowchart: Decision 39">
                <a:extLst>
                  <a:ext uri="{FF2B5EF4-FFF2-40B4-BE49-F238E27FC236}">
                    <a16:creationId xmlns:a16="http://schemas.microsoft.com/office/drawing/2014/main" id="{BD297560-7B9F-D27D-6D90-8A21FFDCB9D9}"/>
                  </a:ext>
                </a:extLst>
              </p:cNvPr>
              <p:cNvSpPr/>
              <p:nvPr userDrawn="1"/>
            </p:nvSpPr>
            <p:spPr>
              <a:xfrm>
                <a:off x="11154264" y="1492707"/>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grpSp>
        <p:grpSp>
          <p:nvGrpSpPr>
            <p:cNvPr id="24" name="Group 23">
              <a:extLst>
                <a:ext uri="{FF2B5EF4-FFF2-40B4-BE49-F238E27FC236}">
                  <a16:creationId xmlns:a16="http://schemas.microsoft.com/office/drawing/2014/main" id="{42906622-E1B7-E53E-5480-81CC61FB6C38}"/>
                </a:ext>
              </a:extLst>
            </p:cNvPr>
            <p:cNvGrpSpPr/>
            <p:nvPr userDrawn="1"/>
          </p:nvGrpSpPr>
          <p:grpSpPr>
            <a:xfrm rot="5400000" flipV="1">
              <a:off x="-1025601" y="3705721"/>
              <a:ext cx="3957292" cy="3474787"/>
              <a:chOff x="8986626" y="-275031"/>
              <a:chExt cx="3957292" cy="3389149"/>
            </a:xfrm>
          </p:grpSpPr>
          <p:sp>
            <p:nvSpPr>
              <p:cNvPr id="31" name="Flowchart: Decision 30">
                <a:extLst>
                  <a:ext uri="{FF2B5EF4-FFF2-40B4-BE49-F238E27FC236}">
                    <a16:creationId xmlns:a16="http://schemas.microsoft.com/office/drawing/2014/main" id="{24D4CE79-63F1-466A-4EBF-5B4F055546FF}"/>
                  </a:ext>
                </a:extLst>
              </p:cNvPr>
              <p:cNvSpPr/>
              <p:nvPr userDrawn="1"/>
            </p:nvSpPr>
            <p:spPr>
              <a:xfrm>
                <a:off x="8986626" y="95299"/>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32" name="Flowchart: Decision 31">
                <a:extLst>
                  <a:ext uri="{FF2B5EF4-FFF2-40B4-BE49-F238E27FC236}">
                    <a16:creationId xmlns:a16="http://schemas.microsoft.com/office/drawing/2014/main" id="{0B745280-313B-2256-77DB-23627F033512}"/>
                  </a:ext>
                </a:extLst>
              </p:cNvPr>
              <p:cNvSpPr/>
              <p:nvPr userDrawn="1"/>
            </p:nvSpPr>
            <p:spPr>
              <a:xfrm>
                <a:off x="10070445" y="807399"/>
                <a:ext cx="1645501" cy="162141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33" name="Flowchart: Decision 32">
                <a:extLst>
                  <a:ext uri="{FF2B5EF4-FFF2-40B4-BE49-F238E27FC236}">
                    <a16:creationId xmlns:a16="http://schemas.microsoft.com/office/drawing/2014/main" id="{C2C1A1E8-7658-8E6B-9F49-911DDAAE445B}"/>
                  </a:ext>
                </a:extLst>
              </p:cNvPr>
              <p:cNvSpPr/>
              <p:nvPr userDrawn="1"/>
            </p:nvSpPr>
            <p:spPr>
              <a:xfrm>
                <a:off x="10429973" y="-275031"/>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34" name="Flowchart: Decision 33">
                <a:extLst>
                  <a:ext uri="{FF2B5EF4-FFF2-40B4-BE49-F238E27FC236}">
                    <a16:creationId xmlns:a16="http://schemas.microsoft.com/office/drawing/2014/main" id="{0E8D81F0-EB19-340F-2656-87CBF6C36899}"/>
                  </a:ext>
                </a:extLst>
              </p:cNvPr>
              <p:cNvSpPr/>
              <p:nvPr userDrawn="1"/>
            </p:nvSpPr>
            <p:spPr>
              <a:xfrm>
                <a:off x="11298417" y="263949"/>
                <a:ext cx="1645501" cy="162141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35" name="Flowchart: Decision 34">
                <a:extLst>
                  <a:ext uri="{FF2B5EF4-FFF2-40B4-BE49-F238E27FC236}">
                    <a16:creationId xmlns:a16="http://schemas.microsoft.com/office/drawing/2014/main" id="{B97F590D-94D2-B3D8-00EA-F8F81E4453C6}"/>
                  </a:ext>
                </a:extLst>
              </p:cNvPr>
              <p:cNvSpPr/>
              <p:nvPr userDrawn="1"/>
            </p:nvSpPr>
            <p:spPr>
              <a:xfrm>
                <a:off x="11154264" y="1492707"/>
                <a:ext cx="1645501" cy="162141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grpSp>
        <p:grpSp>
          <p:nvGrpSpPr>
            <p:cNvPr id="25" name="Group 24">
              <a:extLst>
                <a:ext uri="{FF2B5EF4-FFF2-40B4-BE49-F238E27FC236}">
                  <a16:creationId xmlns:a16="http://schemas.microsoft.com/office/drawing/2014/main" id="{8D3247AD-3A9F-B4C7-61EE-4B8D32ED97D7}"/>
                </a:ext>
              </a:extLst>
            </p:cNvPr>
            <p:cNvGrpSpPr/>
            <p:nvPr userDrawn="1"/>
          </p:nvGrpSpPr>
          <p:grpSpPr>
            <a:xfrm>
              <a:off x="275255" y="117125"/>
              <a:ext cx="3940857" cy="1740954"/>
              <a:chOff x="275255" y="117125"/>
              <a:chExt cx="3940857" cy="1740954"/>
            </a:xfrm>
          </p:grpSpPr>
          <p:grpSp>
            <p:nvGrpSpPr>
              <p:cNvPr id="26" name="Group 25">
                <a:extLst>
                  <a:ext uri="{FF2B5EF4-FFF2-40B4-BE49-F238E27FC236}">
                    <a16:creationId xmlns:a16="http://schemas.microsoft.com/office/drawing/2014/main" id="{1FB2A9DA-BAC0-2F3E-CD14-98F77D189012}"/>
                  </a:ext>
                </a:extLst>
              </p:cNvPr>
              <p:cNvGrpSpPr/>
              <p:nvPr userDrawn="1"/>
            </p:nvGrpSpPr>
            <p:grpSpPr>
              <a:xfrm>
                <a:off x="1480811" y="253867"/>
                <a:ext cx="2735301" cy="1487087"/>
                <a:chOff x="1480811" y="253867"/>
                <a:chExt cx="2735301" cy="1487087"/>
              </a:xfrm>
            </p:grpSpPr>
            <p:sp>
              <p:nvSpPr>
                <p:cNvPr id="28" name="TextBox 27">
                  <a:extLst>
                    <a:ext uri="{FF2B5EF4-FFF2-40B4-BE49-F238E27FC236}">
                      <a16:creationId xmlns:a16="http://schemas.microsoft.com/office/drawing/2014/main" id="{088B49D8-6A41-A1F6-0528-2C05D81CEDA1}"/>
                    </a:ext>
                  </a:extLst>
                </p:cNvPr>
                <p:cNvSpPr txBox="1"/>
                <p:nvPr userDrawn="1"/>
              </p:nvSpPr>
              <p:spPr>
                <a:xfrm>
                  <a:off x="1480811" y="253867"/>
                  <a:ext cx="2735301" cy="646331"/>
                </a:xfrm>
                <a:prstGeom prst="rect">
                  <a:avLst/>
                </a:prstGeom>
                <a:noFill/>
              </p:spPr>
              <p:txBody>
                <a:bodyPr wrap="none" rtlCol="0">
                  <a:spAutoFit/>
                </a:bodyPr>
                <a:lstStyle/>
                <a:p>
                  <a:r>
                    <a:rPr lang="en-PH" sz="3600" b="1" dirty="0">
                      <a:solidFill>
                        <a:srgbClr val="7E0000"/>
                      </a:solidFill>
                      <a:latin typeface="Arial Black" panose="020B0A04020102020204" pitchFamily="34" charset="0"/>
                    </a:rPr>
                    <a:t>College of</a:t>
                  </a:r>
                </a:p>
              </p:txBody>
            </p:sp>
            <p:sp>
              <p:nvSpPr>
                <p:cNvPr id="29" name="TextBox 28">
                  <a:extLst>
                    <a:ext uri="{FF2B5EF4-FFF2-40B4-BE49-F238E27FC236}">
                      <a16:creationId xmlns:a16="http://schemas.microsoft.com/office/drawing/2014/main" id="{778FAA41-92E1-0E85-0CB4-5FE4846AC896}"/>
                    </a:ext>
                  </a:extLst>
                </p:cNvPr>
                <p:cNvSpPr txBox="1"/>
                <p:nvPr userDrawn="1"/>
              </p:nvSpPr>
              <p:spPr>
                <a:xfrm>
                  <a:off x="1494147" y="674245"/>
                  <a:ext cx="2646878" cy="646331"/>
                </a:xfrm>
                <a:prstGeom prst="rect">
                  <a:avLst/>
                </a:prstGeom>
                <a:noFill/>
              </p:spPr>
              <p:txBody>
                <a:bodyPr wrap="none" rtlCol="0">
                  <a:spAutoFit/>
                </a:bodyPr>
                <a:lstStyle/>
                <a:p>
                  <a:r>
                    <a:rPr lang="en-PH" sz="3600" b="1" dirty="0">
                      <a:solidFill>
                        <a:srgbClr val="7E0000"/>
                      </a:solidFill>
                      <a:latin typeface="Arial Black" panose="020B0A04020102020204" pitchFamily="34" charset="0"/>
                    </a:rPr>
                    <a:t>Computer</a:t>
                  </a:r>
                </a:p>
              </p:txBody>
            </p:sp>
            <p:sp>
              <p:nvSpPr>
                <p:cNvPr id="30" name="TextBox 29">
                  <a:extLst>
                    <a:ext uri="{FF2B5EF4-FFF2-40B4-BE49-F238E27FC236}">
                      <a16:creationId xmlns:a16="http://schemas.microsoft.com/office/drawing/2014/main" id="{1C9432D3-E810-E985-806A-106ED730AAB1}"/>
                    </a:ext>
                  </a:extLst>
                </p:cNvPr>
                <p:cNvSpPr txBox="1"/>
                <p:nvPr userDrawn="1"/>
              </p:nvSpPr>
              <p:spPr>
                <a:xfrm>
                  <a:off x="1480811" y="1094623"/>
                  <a:ext cx="2082621" cy="646331"/>
                </a:xfrm>
                <a:prstGeom prst="rect">
                  <a:avLst/>
                </a:prstGeom>
                <a:noFill/>
              </p:spPr>
              <p:txBody>
                <a:bodyPr wrap="none" rtlCol="0">
                  <a:spAutoFit/>
                </a:bodyPr>
                <a:lstStyle/>
                <a:p>
                  <a:r>
                    <a:rPr lang="en-PH" sz="3600" b="1" dirty="0">
                      <a:solidFill>
                        <a:srgbClr val="7E0000"/>
                      </a:solidFill>
                      <a:latin typeface="Arial Black" panose="020B0A04020102020204" pitchFamily="34" charset="0"/>
                    </a:rPr>
                    <a:t>Studies</a:t>
                  </a:r>
                </a:p>
              </p:txBody>
            </p:sp>
          </p:grpSp>
          <p:pic>
            <p:nvPicPr>
              <p:cNvPr id="27" name="Picture 26">
                <a:extLst>
                  <a:ext uri="{FF2B5EF4-FFF2-40B4-BE49-F238E27FC236}">
                    <a16:creationId xmlns:a16="http://schemas.microsoft.com/office/drawing/2014/main" id="{D3AC8D2E-814D-1F8F-2843-C10358AA2D07}"/>
                  </a:ext>
                </a:extLst>
              </p:cNvPr>
              <p:cNvPicPr>
                <a:picLocks noChangeAspect="1"/>
              </p:cNvPicPr>
              <p:nvPr userDrawn="1"/>
            </p:nvPicPr>
            <p:blipFill>
              <a:blip r:embed="rId2"/>
              <a:stretch>
                <a:fillRect/>
              </a:stretch>
            </p:blipFill>
            <p:spPr>
              <a:xfrm>
                <a:off x="275255" y="117125"/>
                <a:ext cx="1205556" cy="1740954"/>
              </a:xfrm>
              <a:prstGeom prst="rect">
                <a:avLst/>
              </a:prstGeom>
            </p:spPr>
          </p:pic>
        </p:grpSp>
      </p:gr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b="1">
                <a:latin typeface="Arial" panose="020B0604020202020204" pitchFamily="34" charset="0"/>
                <a:cs typeface="Arial" panose="020B0604020202020204" pitchFamily="34" charset="0"/>
              </a:defRPr>
            </a:lvl1p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atin typeface="Arial" panose="020B0604020202020204" pitchFamily="34" charset="0"/>
                <a:cs typeface="Arial" panose="020B0604020202020204" pitchFamily="34" charset="0"/>
              </a:defRPr>
            </a:lvl1pPr>
            <a:lvl2pPr>
              <a:defRPr sz="2400">
                <a:latin typeface="Arial" panose="020B0604020202020204" pitchFamily="34" charset="0"/>
                <a:cs typeface="Arial" panose="020B0604020202020204" pitchFamily="34" charset="0"/>
              </a:defRPr>
            </a:lvl2pPr>
            <a:lvl3pPr>
              <a:defRPr sz="2000">
                <a:latin typeface="Arial" panose="020B0604020202020204" pitchFamily="34" charset="0"/>
                <a:cs typeface="Arial" panose="020B0604020202020204" pitchFamily="34" charset="0"/>
              </a:defRPr>
            </a:lvl3pPr>
            <a:lvl4pPr>
              <a:defRPr sz="1800">
                <a:latin typeface="Arial" panose="020B0604020202020204" pitchFamily="34" charset="0"/>
                <a:cs typeface="Arial" panose="020B0604020202020204" pitchFamily="34" charset="0"/>
              </a:defRPr>
            </a:lvl4pPr>
            <a:lvl5pPr>
              <a:defRPr sz="1800">
                <a:latin typeface="Arial" panose="020B0604020202020204" pitchFamily="34" charset="0"/>
                <a:cs typeface="Arial" panose="020B0604020202020204" pitchFamily="34" charset="0"/>
              </a:defRPr>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atin typeface="Arial" panose="020B0604020202020204" pitchFamily="34" charset="0"/>
                <a:cs typeface="Arial" panose="020B0604020202020204" pitchFamily="34" charset="0"/>
              </a:defRPr>
            </a:lvl1pPr>
            <a:lvl2pPr>
              <a:defRPr sz="2400">
                <a:latin typeface="Arial" panose="020B0604020202020204" pitchFamily="34" charset="0"/>
                <a:cs typeface="Arial" panose="020B0604020202020204" pitchFamily="34" charset="0"/>
              </a:defRPr>
            </a:lvl2pPr>
            <a:lvl3pPr>
              <a:defRPr sz="2000">
                <a:latin typeface="Arial" panose="020B0604020202020204" pitchFamily="34" charset="0"/>
                <a:cs typeface="Arial" panose="020B0604020202020204" pitchFamily="34" charset="0"/>
              </a:defRPr>
            </a:lvl3pPr>
            <a:lvl4pPr>
              <a:defRPr sz="1800">
                <a:latin typeface="Arial" panose="020B0604020202020204" pitchFamily="34" charset="0"/>
                <a:cs typeface="Arial" panose="020B0604020202020204" pitchFamily="34" charset="0"/>
              </a:defRPr>
            </a:lvl4pPr>
            <a:lvl5pPr>
              <a:defRPr sz="1800">
                <a:latin typeface="Arial" panose="020B0604020202020204" pitchFamily="34" charset="0"/>
                <a:cs typeface="Arial" panose="020B0604020202020204" pitchFamily="34" charset="0"/>
              </a:defRPr>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grpSp>
        <p:nvGrpSpPr>
          <p:cNvPr id="5" name="Group 4">
            <a:extLst>
              <a:ext uri="{FF2B5EF4-FFF2-40B4-BE49-F238E27FC236}">
                <a16:creationId xmlns:a16="http://schemas.microsoft.com/office/drawing/2014/main" id="{FDCB2888-CBAF-B20A-A983-16C37FDCC211}"/>
              </a:ext>
            </a:extLst>
          </p:cNvPr>
          <p:cNvGrpSpPr/>
          <p:nvPr userDrawn="1"/>
        </p:nvGrpSpPr>
        <p:grpSpPr>
          <a:xfrm>
            <a:off x="-505758" y="136524"/>
            <a:ext cx="12420811" cy="7530657"/>
            <a:chOff x="-505758" y="136524"/>
            <a:chExt cx="12420811" cy="7530657"/>
          </a:xfrm>
        </p:grpSpPr>
        <p:sp>
          <p:nvSpPr>
            <p:cNvPr id="6" name="Flowchart: Decision 5">
              <a:extLst>
                <a:ext uri="{FF2B5EF4-FFF2-40B4-BE49-F238E27FC236}">
                  <a16:creationId xmlns:a16="http://schemas.microsoft.com/office/drawing/2014/main" id="{2DFF9914-2259-8E91-9E73-AECC6979F35A}"/>
                </a:ext>
              </a:extLst>
            </p:cNvPr>
            <p:cNvSpPr/>
            <p:nvPr userDrawn="1"/>
          </p:nvSpPr>
          <p:spPr>
            <a:xfrm rot="5400000" flipV="1">
              <a:off x="-497318" y="4929421"/>
              <a:ext cx="1645501" cy="166238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8" name="Flowchart: Decision 7">
              <a:extLst>
                <a:ext uri="{FF2B5EF4-FFF2-40B4-BE49-F238E27FC236}">
                  <a16:creationId xmlns:a16="http://schemas.microsoft.com/office/drawing/2014/main" id="{BA731B45-DAC3-A58F-7848-AE10DB46856A}"/>
                </a:ext>
              </a:extLst>
            </p:cNvPr>
            <p:cNvSpPr/>
            <p:nvPr userDrawn="1"/>
          </p:nvSpPr>
          <p:spPr>
            <a:xfrm rot="5400000" flipV="1">
              <a:off x="232776" y="6013240"/>
              <a:ext cx="1645501" cy="166238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pic>
          <p:nvPicPr>
            <p:cNvPr id="9" name="Picture 8">
              <a:extLst>
                <a:ext uri="{FF2B5EF4-FFF2-40B4-BE49-F238E27FC236}">
                  <a16:creationId xmlns:a16="http://schemas.microsoft.com/office/drawing/2014/main" id="{B1169C59-4CB1-FFA9-CF11-C814EB86099E}"/>
                </a:ext>
              </a:extLst>
            </p:cNvPr>
            <p:cNvPicPr>
              <a:picLocks noChangeAspect="1"/>
            </p:cNvPicPr>
            <p:nvPr userDrawn="1"/>
          </p:nvPicPr>
          <p:blipFill>
            <a:blip r:embed="rId2"/>
            <a:stretch>
              <a:fillRect/>
            </a:stretch>
          </p:blipFill>
          <p:spPr>
            <a:xfrm>
              <a:off x="11027922" y="136524"/>
              <a:ext cx="887131" cy="1281114"/>
            </a:xfrm>
            <a:prstGeom prst="rect">
              <a:avLst/>
            </a:prstGeom>
          </p:spPr>
        </p:pic>
      </p:gr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b="1">
                <a:latin typeface="Arial" panose="020B0604020202020204" pitchFamily="34" charset="0"/>
                <a:cs typeface="Arial" panose="020B0604020202020204" pitchFamily="34" charset="0"/>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atin typeface="Arial" panose="020B0604020202020204" pitchFamily="34" charset="0"/>
                <a:cs typeface="Arial" panose="020B0604020202020204" pitchFamily="34" charset="0"/>
              </a:defRPr>
            </a:lvl1pPr>
            <a:lvl2pPr>
              <a:defRPr sz="2000">
                <a:latin typeface="Arial" panose="020B0604020202020204" pitchFamily="34" charset="0"/>
                <a:cs typeface="Arial" panose="020B0604020202020204" pitchFamily="34" charset="0"/>
              </a:defRPr>
            </a:lvl2pPr>
            <a:lvl3pPr>
              <a:defRPr sz="18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atin typeface="Arial" panose="020B0604020202020204" pitchFamily="34" charset="0"/>
                <a:cs typeface="Arial" panose="020B0604020202020204" pitchFamily="34" charset="0"/>
              </a:defRPr>
            </a:lvl1pPr>
            <a:lvl2pPr>
              <a:defRPr sz="2000">
                <a:latin typeface="Arial" panose="020B0604020202020204" pitchFamily="34" charset="0"/>
                <a:cs typeface="Arial" panose="020B0604020202020204" pitchFamily="34" charset="0"/>
              </a:defRPr>
            </a:lvl2pPr>
            <a:lvl3pPr>
              <a:defRPr sz="18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grpSp>
        <p:nvGrpSpPr>
          <p:cNvPr id="7" name="Group 6">
            <a:extLst>
              <a:ext uri="{FF2B5EF4-FFF2-40B4-BE49-F238E27FC236}">
                <a16:creationId xmlns:a16="http://schemas.microsoft.com/office/drawing/2014/main" id="{3BEB34AC-0F39-12E1-AA76-45FF4BE4684A}"/>
              </a:ext>
            </a:extLst>
          </p:cNvPr>
          <p:cNvGrpSpPr/>
          <p:nvPr userDrawn="1"/>
        </p:nvGrpSpPr>
        <p:grpSpPr>
          <a:xfrm>
            <a:off x="-505758" y="136524"/>
            <a:ext cx="12420811" cy="7530657"/>
            <a:chOff x="-505758" y="136524"/>
            <a:chExt cx="12420811" cy="7530657"/>
          </a:xfrm>
        </p:grpSpPr>
        <p:sp>
          <p:nvSpPr>
            <p:cNvPr id="8" name="Flowchart: Decision 7">
              <a:extLst>
                <a:ext uri="{FF2B5EF4-FFF2-40B4-BE49-F238E27FC236}">
                  <a16:creationId xmlns:a16="http://schemas.microsoft.com/office/drawing/2014/main" id="{7D867D2D-F5D6-11D7-9B81-4D0015F0A39C}"/>
                </a:ext>
              </a:extLst>
            </p:cNvPr>
            <p:cNvSpPr/>
            <p:nvPr userDrawn="1"/>
          </p:nvSpPr>
          <p:spPr>
            <a:xfrm rot="5400000" flipV="1">
              <a:off x="-497318" y="4929421"/>
              <a:ext cx="1645501" cy="166238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10" name="Flowchart: Decision 9">
              <a:extLst>
                <a:ext uri="{FF2B5EF4-FFF2-40B4-BE49-F238E27FC236}">
                  <a16:creationId xmlns:a16="http://schemas.microsoft.com/office/drawing/2014/main" id="{F7A6E35C-0CE9-9C5D-33D0-86505C86060E}"/>
                </a:ext>
              </a:extLst>
            </p:cNvPr>
            <p:cNvSpPr/>
            <p:nvPr userDrawn="1"/>
          </p:nvSpPr>
          <p:spPr>
            <a:xfrm rot="5400000" flipV="1">
              <a:off x="232776" y="6013240"/>
              <a:ext cx="1645501" cy="166238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pic>
          <p:nvPicPr>
            <p:cNvPr id="11" name="Picture 10">
              <a:extLst>
                <a:ext uri="{FF2B5EF4-FFF2-40B4-BE49-F238E27FC236}">
                  <a16:creationId xmlns:a16="http://schemas.microsoft.com/office/drawing/2014/main" id="{7EF71814-819D-61AA-CC68-4287C1DBF202}"/>
                </a:ext>
              </a:extLst>
            </p:cNvPr>
            <p:cNvPicPr>
              <a:picLocks noChangeAspect="1"/>
            </p:cNvPicPr>
            <p:nvPr userDrawn="1"/>
          </p:nvPicPr>
          <p:blipFill>
            <a:blip r:embed="rId2"/>
            <a:stretch>
              <a:fillRect/>
            </a:stretch>
          </p:blipFill>
          <p:spPr>
            <a:xfrm>
              <a:off x="11027922" y="136524"/>
              <a:ext cx="887131" cy="1281114"/>
            </a:xfrm>
            <a:prstGeom prst="rect">
              <a:avLst/>
            </a:prstGeom>
          </p:spPr>
        </p:pic>
      </p:gr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b="1"/>
            </a:lvl1pPr>
          </a:lstStyle>
          <a:p>
            <a:r>
              <a:rPr lang="en-US" dirty="0"/>
              <a:t>Click to edit Master title style</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grpSp>
        <p:nvGrpSpPr>
          <p:cNvPr id="3" name="Group 2">
            <a:extLst>
              <a:ext uri="{FF2B5EF4-FFF2-40B4-BE49-F238E27FC236}">
                <a16:creationId xmlns:a16="http://schemas.microsoft.com/office/drawing/2014/main" id="{8C03AE32-CF75-BEF9-79CE-8BA2FF2DF9C6}"/>
              </a:ext>
            </a:extLst>
          </p:cNvPr>
          <p:cNvGrpSpPr/>
          <p:nvPr userDrawn="1"/>
        </p:nvGrpSpPr>
        <p:grpSpPr>
          <a:xfrm>
            <a:off x="-505758" y="136524"/>
            <a:ext cx="12420811" cy="7530657"/>
            <a:chOff x="-505758" y="136524"/>
            <a:chExt cx="12420811" cy="7530657"/>
          </a:xfrm>
        </p:grpSpPr>
        <p:sp>
          <p:nvSpPr>
            <p:cNvPr id="4" name="Flowchart: Decision 3">
              <a:extLst>
                <a:ext uri="{FF2B5EF4-FFF2-40B4-BE49-F238E27FC236}">
                  <a16:creationId xmlns:a16="http://schemas.microsoft.com/office/drawing/2014/main" id="{5122C36A-9D9C-343C-7969-DB73B1E5F01A}"/>
                </a:ext>
              </a:extLst>
            </p:cNvPr>
            <p:cNvSpPr/>
            <p:nvPr userDrawn="1"/>
          </p:nvSpPr>
          <p:spPr>
            <a:xfrm rot="5400000" flipV="1">
              <a:off x="-497318" y="4929421"/>
              <a:ext cx="1645501" cy="166238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6" name="Flowchart: Decision 5">
              <a:extLst>
                <a:ext uri="{FF2B5EF4-FFF2-40B4-BE49-F238E27FC236}">
                  <a16:creationId xmlns:a16="http://schemas.microsoft.com/office/drawing/2014/main" id="{6E6BC1FA-D31D-7391-40FE-E90481F7091B}"/>
                </a:ext>
              </a:extLst>
            </p:cNvPr>
            <p:cNvSpPr/>
            <p:nvPr userDrawn="1"/>
          </p:nvSpPr>
          <p:spPr>
            <a:xfrm rot="5400000" flipV="1">
              <a:off x="232776" y="6013240"/>
              <a:ext cx="1645501" cy="166238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pic>
          <p:nvPicPr>
            <p:cNvPr id="7" name="Picture 6">
              <a:extLst>
                <a:ext uri="{FF2B5EF4-FFF2-40B4-BE49-F238E27FC236}">
                  <a16:creationId xmlns:a16="http://schemas.microsoft.com/office/drawing/2014/main" id="{8F590FBF-6380-FCFC-2B43-73185E397A34}"/>
                </a:ext>
              </a:extLst>
            </p:cNvPr>
            <p:cNvPicPr>
              <a:picLocks noChangeAspect="1"/>
            </p:cNvPicPr>
            <p:nvPr userDrawn="1"/>
          </p:nvPicPr>
          <p:blipFill>
            <a:blip r:embed="rId2"/>
            <a:stretch>
              <a:fillRect/>
            </a:stretch>
          </p:blipFill>
          <p:spPr>
            <a:xfrm>
              <a:off x="11027922" y="136524"/>
              <a:ext cx="887131" cy="1281114"/>
            </a:xfrm>
            <a:prstGeom prst="rect">
              <a:avLst/>
            </a:prstGeom>
          </p:spPr>
        </p:pic>
      </p:gr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b="1">
                <a:latin typeface="Arial" panose="020B0604020202020204" pitchFamily="34" charset="0"/>
                <a:cs typeface="Arial" panose="020B0604020202020204" pitchFamily="34" charset="0"/>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grpSp>
        <p:nvGrpSpPr>
          <p:cNvPr id="4" name="Group 3">
            <a:extLst>
              <a:ext uri="{FF2B5EF4-FFF2-40B4-BE49-F238E27FC236}">
                <a16:creationId xmlns:a16="http://schemas.microsoft.com/office/drawing/2014/main" id="{F3884829-7688-51B0-9F78-A275E4520DC1}"/>
              </a:ext>
            </a:extLst>
          </p:cNvPr>
          <p:cNvGrpSpPr/>
          <p:nvPr userDrawn="1"/>
        </p:nvGrpSpPr>
        <p:grpSpPr>
          <a:xfrm>
            <a:off x="-505758" y="136524"/>
            <a:ext cx="12420811" cy="7530657"/>
            <a:chOff x="-505758" y="136524"/>
            <a:chExt cx="12420811" cy="7530657"/>
          </a:xfrm>
        </p:grpSpPr>
        <p:sp>
          <p:nvSpPr>
            <p:cNvPr id="5" name="Flowchart: Decision 4">
              <a:extLst>
                <a:ext uri="{FF2B5EF4-FFF2-40B4-BE49-F238E27FC236}">
                  <a16:creationId xmlns:a16="http://schemas.microsoft.com/office/drawing/2014/main" id="{7C89D3D3-1C31-6926-F563-5319DB3086AA}"/>
                </a:ext>
              </a:extLst>
            </p:cNvPr>
            <p:cNvSpPr/>
            <p:nvPr userDrawn="1"/>
          </p:nvSpPr>
          <p:spPr>
            <a:xfrm rot="5400000" flipV="1">
              <a:off x="-497318" y="4929421"/>
              <a:ext cx="1645501" cy="1662381"/>
            </a:xfrm>
            <a:prstGeom prst="flowChartDecision">
              <a:avLst/>
            </a:prstGeom>
            <a:solidFill>
              <a:srgbClr val="7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sp>
          <p:nvSpPr>
            <p:cNvPr id="7" name="Flowchart: Decision 6">
              <a:extLst>
                <a:ext uri="{FF2B5EF4-FFF2-40B4-BE49-F238E27FC236}">
                  <a16:creationId xmlns:a16="http://schemas.microsoft.com/office/drawing/2014/main" id="{4DE7B567-6C36-7819-E45D-078636DA42A5}"/>
                </a:ext>
              </a:extLst>
            </p:cNvPr>
            <p:cNvSpPr/>
            <p:nvPr userDrawn="1"/>
          </p:nvSpPr>
          <p:spPr>
            <a:xfrm rot="5400000" flipV="1">
              <a:off x="232776" y="6013240"/>
              <a:ext cx="1645501" cy="1662381"/>
            </a:xfrm>
            <a:prstGeom prst="flowChartDecision">
              <a:avLst/>
            </a:prstGeom>
            <a:solidFill>
              <a:schemeClr val="bg1"/>
            </a:solidFill>
            <a:ln>
              <a:gradFill>
                <a:gsLst>
                  <a:gs pos="30000">
                    <a:srgbClr val="7E0000"/>
                  </a:gs>
                  <a:gs pos="20000">
                    <a:schemeClr val="bg1"/>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PH"/>
            </a:p>
          </p:txBody>
        </p:sp>
        <p:pic>
          <p:nvPicPr>
            <p:cNvPr id="8" name="Picture 7">
              <a:extLst>
                <a:ext uri="{FF2B5EF4-FFF2-40B4-BE49-F238E27FC236}">
                  <a16:creationId xmlns:a16="http://schemas.microsoft.com/office/drawing/2014/main" id="{8DFD7033-F011-0D3B-370D-11753DCE692E}"/>
                </a:ext>
              </a:extLst>
            </p:cNvPr>
            <p:cNvPicPr>
              <a:picLocks noChangeAspect="1"/>
            </p:cNvPicPr>
            <p:nvPr userDrawn="1"/>
          </p:nvPicPr>
          <p:blipFill>
            <a:blip r:embed="rId2"/>
            <a:stretch>
              <a:fillRect/>
            </a:stretch>
          </p:blipFill>
          <p:spPr>
            <a:xfrm>
              <a:off x="11027922" y="136524"/>
              <a:ext cx="887131" cy="1281114"/>
            </a:xfrm>
            <a:prstGeom prst="rect">
              <a:avLst/>
            </a:prstGeom>
          </p:spPr>
        </p:pic>
      </p:grpSp>
    </p:spTree>
    <p:extLst>
      <p:ext uri="{BB962C8B-B14F-4D97-AF65-F5344CB8AC3E}">
        <p14:creationId xmlns:p14="http://schemas.microsoft.com/office/powerpoint/2010/main" val="2910927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8" r:id="rId7"/>
  </p:sldLayoutIdLst>
  <p:txStyles>
    <p:titleStyle>
      <a:lvl1pPr algn="l" defTabSz="457200" rtl="0" eaLnBrk="1" latinLnBrk="0" hangingPunct="1">
        <a:spcBef>
          <a:spcPct val="0"/>
        </a:spcBef>
        <a:buNone/>
        <a:defRPr sz="4400" b="1" kern="1200">
          <a:solidFill>
            <a:schemeClr val="tx1"/>
          </a:solidFill>
          <a:latin typeface="Arial" panose="020B0604020202020204" pitchFamily="34" charset="0"/>
          <a:ea typeface="+mj-ea"/>
          <a:cs typeface="Arial" panose="020B0604020202020204" pitchFamily="34" charset="0"/>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0.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16_93DCAF6F.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2_0.xm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microsoft.com/office/2018/10/relationships/comments" Target="../comments/modernComment_104_0.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microsoft.com/office/2018/10/relationships/comments" Target="../comments/modernComment_117_3BF66E3A.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microsoft.com/office/2018/10/relationships/comments" Target="../comments/modernComment_11D_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microsoft.com/office/2018/10/relationships/comments" Target="../comments/modernComment_123_5CA87A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microsoft.com/office/2018/10/relationships/comments" Target="../comments/modernComment_10A_0.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jpg"/><Relationship Id="rId4" Type="http://schemas.openxmlformats.org/officeDocument/2006/relationships/image" Target="../media/image4.png"/><Relationship Id="rId9" Type="http://schemas.openxmlformats.org/officeDocument/2006/relationships/image" Target="../media/image9.png"/></Relationships>
</file>

<file path=ppt/slides/_rels/slide13.xml.rels><?xml version="1.0" encoding="UTF-8" standalone="yes"?>
<Relationships xmlns="http://schemas.openxmlformats.org/package/2006/relationships"><Relationship Id="rId2" Type="http://schemas.microsoft.com/office/2018/10/relationships/comments" Target="../comments/modernComment_10B_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microsoft.com/office/2018/10/relationships/comments" Target="../comments/modernComment_11E_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microsoft.com/office/2018/10/relationships/comments" Target="../comments/modernComment_10E_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microsoft.com/office/2018/10/relationships/comments" Target="../comments/modernComment_10F_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68217-B866-9C7A-8693-AA7C5DE654C0}"/>
              </a:ext>
            </a:extLst>
          </p:cNvPr>
          <p:cNvSpPr>
            <a:spLocks noGrp="1"/>
          </p:cNvSpPr>
          <p:nvPr>
            <p:ph type="ctrTitle"/>
          </p:nvPr>
        </p:nvSpPr>
        <p:spPr>
          <a:xfrm>
            <a:off x="1160980" y="2357103"/>
            <a:ext cx="9431676" cy="1470025"/>
          </a:xfrm>
        </p:spPr>
        <p:txBody>
          <a:bodyPr>
            <a:normAutofit fontScale="90000"/>
          </a:bodyPr>
          <a:lstStyle/>
          <a:p>
            <a:r>
              <a:rPr lang="en-US" dirty="0"/>
              <a:t>Auto-</a:t>
            </a:r>
            <a:r>
              <a:rPr lang="en-US" dirty="0" err="1"/>
              <a:t>ComPAnIon</a:t>
            </a:r>
            <a:r>
              <a:rPr lang="en-US" dirty="0"/>
              <a:t>: Auto Supply Shop Inventory System with Predictive AI</a:t>
            </a:r>
            <a:endParaRPr lang="en-PH" dirty="0"/>
          </a:p>
        </p:txBody>
      </p:sp>
      <p:sp>
        <p:nvSpPr>
          <p:cNvPr id="3" name="Subtitle 2">
            <a:extLst>
              <a:ext uri="{FF2B5EF4-FFF2-40B4-BE49-F238E27FC236}">
                <a16:creationId xmlns:a16="http://schemas.microsoft.com/office/drawing/2014/main" id="{E3B41F35-98C4-3426-C562-D55EBDF86BF2}"/>
              </a:ext>
            </a:extLst>
          </p:cNvPr>
          <p:cNvSpPr>
            <a:spLocks noGrp="1"/>
          </p:cNvSpPr>
          <p:nvPr>
            <p:ph type="subTitle" idx="1"/>
          </p:nvPr>
        </p:nvSpPr>
        <p:spPr>
          <a:xfrm>
            <a:off x="2182761" y="4007070"/>
            <a:ext cx="8534400" cy="2185007"/>
          </a:xfrm>
        </p:spPr>
        <p:txBody>
          <a:bodyPr>
            <a:noAutofit/>
          </a:bodyPr>
          <a:lstStyle/>
          <a:p>
            <a:r>
              <a:rPr lang="en-PH" sz="2000" dirty="0"/>
              <a:t>Bolante, Shekinah D.</a:t>
            </a:r>
          </a:p>
          <a:p>
            <a:r>
              <a:rPr lang="en-PH" sz="2000" dirty="0"/>
              <a:t>Dalisay, Mary Richalene </a:t>
            </a:r>
          </a:p>
          <a:p>
            <a:r>
              <a:rPr lang="en-PH" sz="2000" dirty="0" err="1"/>
              <a:t>Ladringan</a:t>
            </a:r>
            <a:r>
              <a:rPr lang="en-PH" sz="2000" dirty="0"/>
              <a:t>, Jerdelyne R. </a:t>
            </a:r>
          </a:p>
          <a:p>
            <a:r>
              <a:rPr lang="en-PH" sz="2000" dirty="0"/>
              <a:t>Saldua, </a:t>
            </a:r>
            <a:r>
              <a:rPr lang="en-PH" sz="2000" dirty="0" err="1"/>
              <a:t>Louezethe</a:t>
            </a:r>
            <a:r>
              <a:rPr lang="en-PH" sz="2000" dirty="0"/>
              <a:t> Ian Illicir N.</a:t>
            </a:r>
          </a:p>
        </p:txBody>
      </p:sp>
    </p:spTree>
    <p:extLst>
      <p:ext uri="{BB962C8B-B14F-4D97-AF65-F5344CB8AC3E}">
        <p14:creationId xmlns:p14="http://schemas.microsoft.com/office/powerpoint/2010/main" val="28777171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1263" y="444038"/>
            <a:ext cx="10972800" cy="1143000"/>
          </a:xfrm>
        </p:spPr>
        <p:txBody>
          <a:bodyPr/>
          <a:lstStyle/>
          <a:p>
            <a:r>
              <a:rPr dirty="0"/>
              <a:t>Project Overview</a:t>
            </a:r>
          </a:p>
        </p:txBody>
      </p:sp>
      <p:sp>
        <p:nvSpPr>
          <p:cNvPr id="4" name="Rectangle 1">
            <a:extLst>
              <a:ext uri="{FF2B5EF4-FFF2-40B4-BE49-F238E27FC236}">
                <a16:creationId xmlns:a16="http://schemas.microsoft.com/office/drawing/2014/main" id="{2C87577E-F376-9470-C19B-4A6B6C14FE79}"/>
              </a:ext>
            </a:extLst>
          </p:cNvPr>
          <p:cNvSpPr>
            <a:spLocks noGrp="1" noChangeArrowheads="1"/>
          </p:cNvSpPr>
          <p:nvPr>
            <p:ph idx="4294967295"/>
          </p:nvPr>
        </p:nvSpPr>
        <p:spPr bwMode="auto">
          <a:xfrm>
            <a:off x="1242646" y="1397204"/>
            <a:ext cx="10083080" cy="50167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2000" b="1" i="0" u="none" strike="noStrike" cap="none" normalizeH="0" baseline="0" dirty="0">
                <a:ln>
                  <a:noFill/>
                </a:ln>
                <a:solidFill>
                  <a:schemeClr val="tx1"/>
                </a:solidFill>
                <a:effectLst/>
                <a:latin typeface="Arial" panose="020B0604020202020204" pitchFamily="34" charset="0"/>
              </a:rPr>
              <a:t>System Description:</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0" i="1" u="none" strike="noStrike" cap="none" normalizeH="0" baseline="0" dirty="0">
                <a:ln>
                  <a:noFill/>
                </a:ln>
                <a:solidFill>
                  <a:schemeClr val="tx1"/>
                </a:solidFill>
                <a:effectLst/>
                <a:latin typeface="Arial" panose="020B0604020202020204" pitchFamily="34" charset="0"/>
              </a:rPr>
              <a:t>Auto-</a:t>
            </a:r>
            <a:r>
              <a:rPr kumimoji="0" lang="en-US" altLang="en-US" sz="2000" b="0" i="1" u="none" strike="noStrike" cap="none" normalizeH="0" baseline="0" dirty="0" err="1">
                <a:ln>
                  <a:noFill/>
                </a:ln>
                <a:solidFill>
                  <a:schemeClr val="tx1"/>
                </a:solidFill>
                <a:effectLst/>
                <a:latin typeface="Arial" panose="020B0604020202020204" pitchFamily="34" charset="0"/>
              </a:rPr>
              <a:t>ComPAnIon</a:t>
            </a:r>
            <a:r>
              <a:rPr kumimoji="0" lang="en-US" altLang="en-US" sz="2000" b="0" i="0" u="none" strike="noStrike" cap="none" normalizeH="0" baseline="0" dirty="0">
                <a:ln>
                  <a:noFill/>
                </a:ln>
                <a:solidFill>
                  <a:schemeClr val="tx1"/>
                </a:solidFill>
                <a:effectLst/>
                <a:latin typeface="Arial" panose="020B0604020202020204" pitchFamily="34" charset="0"/>
              </a:rPr>
              <a:t> is a computerized system that integrates Point-of-Sale (POS), Inventory Management, and Predictive AI module to digitize and streamline the operations of </a:t>
            </a:r>
            <a:r>
              <a:rPr kumimoji="0" lang="en-US" altLang="en-US" sz="2000" b="0" i="0" u="none" strike="noStrike" cap="none" normalizeH="0" baseline="0" dirty="0" err="1">
                <a:ln>
                  <a:noFill/>
                </a:ln>
                <a:solidFill>
                  <a:schemeClr val="tx1"/>
                </a:solidFill>
                <a:effectLst/>
                <a:latin typeface="Arial" panose="020B0604020202020204" pitchFamily="34" charset="0"/>
              </a:rPr>
              <a:t>Santosidad</a:t>
            </a:r>
            <a:r>
              <a:rPr kumimoji="0" lang="en-US" altLang="en-US" sz="2000" b="0" i="0" u="none" strike="noStrike" cap="none" normalizeH="0" baseline="0" dirty="0">
                <a:ln>
                  <a:noFill/>
                </a:ln>
                <a:solidFill>
                  <a:schemeClr val="tx1"/>
                </a:solidFill>
                <a:effectLst/>
                <a:latin typeface="Arial" panose="020B0604020202020204" pitchFamily="34" charset="0"/>
              </a:rPr>
              <a:t> Auto Supply. </a:t>
            </a:r>
            <a:br>
              <a:rPr kumimoji="0" lang="en-US" altLang="en-US" sz="2000" b="0" i="0" u="none" strike="noStrike" cap="none" normalizeH="0" baseline="0" dirty="0">
                <a:ln>
                  <a:noFill/>
                </a:ln>
                <a:solidFill>
                  <a:schemeClr val="tx1"/>
                </a:solidFill>
                <a:effectLst/>
                <a:latin typeface="Arial" panose="020B0604020202020204" pitchFamily="34" charset="0"/>
              </a:rPr>
            </a:b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000" b="1" i="0" u="none" strike="noStrike" cap="none" normalizeH="0" baseline="0" dirty="0">
                <a:ln>
                  <a:noFill/>
                </a:ln>
                <a:solidFill>
                  <a:schemeClr val="tx1"/>
                </a:solidFill>
                <a:effectLst/>
                <a:latin typeface="Arial" panose="020B0604020202020204" pitchFamily="34" charset="0"/>
              </a:rPr>
              <a:t>Problem Being Solved:</a:t>
            </a:r>
            <a:r>
              <a:rPr kumimoji="0" lang="en-US" altLang="en-US" sz="2000" b="0" i="0" u="none" strike="noStrike" cap="none" normalizeH="0" baseline="0" dirty="0">
                <a:ln>
                  <a:noFill/>
                </a:ln>
                <a:solidFill>
                  <a:schemeClr val="tx1"/>
                </a:solidFill>
                <a:effectLst/>
                <a:latin typeface="Arial" panose="020B0604020202020204" pitchFamily="34" charset="0"/>
              </a:rPr>
              <a:t> The system addresses inefficiencies caused by manual processes, including stock mismanagement, slow transaction processing, and the absence of data-driven decision-making tools. </a:t>
            </a:r>
            <a:br>
              <a:rPr kumimoji="0" lang="en-US" altLang="en-US" sz="2000" b="0" i="0" u="none" strike="noStrike" cap="none" normalizeH="0" baseline="0" dirty="0">
                <a:ln>
                  <a:noFill/>
                </a:ln>
                <a:solidFill>
                  <a:schemeClr val="tx1"/>
                </a:solidFill>
                <a:effectLst/>
                <a:latin typeface="Arial" panose="020B0604020202020204" pitchFamily="34" charset="0"/>
              </a:rPr>
            </a:b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000" b="1" i="0" u="none" strike="noStrike" cap="none" normalizeH="0" baseline="0" dirty="0">
                <a:ln>
                  <a:noFill/>
                </a:ln>
                <a:solidFill>
                  <a:schemeClr val="tx1"/>
                </a:solidFill>
                <a:effectLst/>
                <a:latin typeface="Arial" panose="020B0604020202020204" pitchFamily="34" charset="0"/>
              </a:rPr>
              <a:t>Client and Target Users:</a:t>
            </a:r>
            <a:r>
              <a:rPr kumimoji="0" lang="en-US" altLang="en-US" sz="2000" b="0" i="0" u="none" strike="noStrike" cap="none" normalizeH="0" baseline="0" dirty="0">
                <a:ln>
                  <a:noFill/>
                </a:ln>
                <a:solidFill>
                  <a:schemeClr val="tx1"/>
                </a:solidFill>
                <a:effectLst/>
                <a:latin typeface="Arial" panose="020B0604020202020204" pitchFamily="34" charset="0"/>
              </a:rPr>
              <a:t> The primary client is </a:t>
            </a:r>
            <a:r>
              <a:rPr kumimoji="0" lang="en-US" altLang="en-US" sz="2000" b="0" i="0" u="none" strike="noStrike" cap="none" normalizeH="0" baseline="0" dirty="0" err="1">
                <a:ln>
                  <a:noFill/>
                </a:ln>
                <a:solidFill>
                  <a:schemeClr val="tx1"/>
                </a:solidFill>
                <a:effectLst/>
                <a:latin typeface="Arial" panose="020B0604020202020204" pitchFamily="34" charset="0"/>
              </a:rPr>
              <a:t>Santosidad</a:t>
            </a:r>
            <a:r>
              <a:rPr kumimoji="0" lang="en-US" altLang="en-US" sz="2000" b="0" i="0" u="none" strike="noStrike" cap="none" normalizeH="0" baseline="0" dirty="0">
                <a:ln>
                  <a:noFill/>
                </a:ln>
                <a:solidFill>
                  <a:schemeClr val="tx1"/>
                </a:solidFill>
                <a:effectLst/>
                <a:latin typeface="Arial" panose="020B0604020202020204" pitchFamily="34" charset="0"/>
              </a:rPr>
              <a:t> Auto Supply, with target users including the Owner, Secretary, and Employees, each assigned role-based access and functionalities. </a:t>
            </a:r>
            <a:br>
              <a:rPr kumimoji="0" lang="en-US" altLang="en-US" sz="2000" b="0" i="0" u="none" strike="noStrike" cap="none" normalizeH="0" baseline="0" dirty="0">
                <a:ln>
                  <a:noFill/>
                </a:ln>
                <a:solidFill>
                  <a:schemeClr val="tx1"/>
                </a:solidFill>
                <a:effectLst/>
                <a:latin typeface="Arial" panose="020B0604020202020204" pitchFamily="34" charset="0"/>
              </a:rPr>
            </a:b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000" b="1" i="0" u="none" strike="noStrike" cap="none" normalizeH="0" baseline="0" dirty="0">
                <a:ln>
                  <a:noFill/>
                </a:ln>
                <a:solidFill>
                  <a:schemeClr val="tx1"/>
                </a:solidFill>
                <a:effectLst/>
                <a:latin typeface="Arial" panose="020B0604020202020204" pitchFamily="34" charset="0"/>
              </a:rPr>
              <a:t>Key Features:</a:t>
            </a:r>
            <a:r>
              <a:rPr kumimoji="0" lang="en-US" altLang="en-US" sz="2000" b="0" i="0" u="none" strike="noStrike" cap="none" normalizeH="0" baseline="0" dirty="0">
                <a:ln>
                  <a:noFill/>
                </a:ln>
                <a:solidFill>
                  <a:schemeClr val="tx1"/>
                </a:solidFill>
                <a:effectLst/>
                <a:latin typeface="Arial" panose="020B0604020202020204" pitchFamily="34" charset="0"/>
              </a:rPr>
              <a:t> The system provides centralized inventory tracking, automated sales transactions with approval workflows, and AI-driven analytics such as demand forecasting, ROI, and Reorder predictions to support operational and strategic decisions. </a:t>
            </a:r>
          </a:p>
        </p:txBody>
      </p:sp>
    </p:spTree>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0F5B3-BBF3-2159-C618-DC811D774619}"/>
              </a:ext>
            </a:extLst>
          </p:cNvPr>
          <p:cNvSpPr>
            <a:spLocks noGrp="1"/>
          </p:cNvSpPr>
          <p:nvPr>
            <p:ph type="title"/>
          </p:nvPr>
        </p:nvSpPr>
        <p:spPr/>
        <p:txBody>
          <a:bodyPr/>
          <a:lstStyle/>
          <a:p>
            <a:r>
              <a:rPr lang="en-PH" dirty="0"/>
              <a:t>Project Team and Required Tasks</a:t>
            </a:r>
          </a:p>
        </p:txBody>
      </p:sp>
      <p:pic>
        <p:nvPicPr>
          <p:cNvPr id="5" name="Content Placeholder 4">
            <a:extLst>
              <a:ext uri="{FF2B5EF4-FFF2-40B4-BE49-F238E27FC236}">
                <a16:creationId xmlns:a16="http://schemas.microsoft.com/office/drawing/2014/main" id="{D75E4544-AC69-54CD-66D7-61EAE8AB466F}"/>
              </a:ext>
            </a:extLst>
          </p:cNvPr>
          <p:cNvPicPr>
            <a:picLocks noGrp="1" noChangeAspect="1"/>
          </p:cNvPicPr>
          <p:nvPr>
            <p:ph idx="1"/>
          </p:nvPr>
        </p:nvPicPr>
        <p:blipFill>
          <a:blip r:embed="rId3"/>
          <a:stretch>
            <a:fillRect/>
          </a:stretch>
        </p:blipFill>
        <p:spPr>
          <a:xfrm>
            <a:off x="2103844" y="1417638"/>
            <a:ext cx="7984311" cy="5126348"/>
          </a:xfrm>
          <a:prstGeom prst="rect">
            <a:avLst/>
          </a:prstGeom>
        </p:spPr>
      </p:pic>
      <p:sp>
        <p:nvSpPr>
          <p:cNvPr id="6" name="TextBox 5">
            <a:extLst>
              <a:ext uri="{FF2B5EF4-FFF2-40B4-BE49-F238E27FC236}">
                <a16:creationId xmlns:a16="http://schemas.microsoft.com/office/drawing/2014/main" id="{C0503B48-0CA4-2021-7589-332D1E39DF7F}"/>
              </a:ext>
            </a:extLst>
          </p:cNvPr>
          <p:cNvSpPr txBox="1"/>
          <p:nvPr/>
        </p:nvSpPr>
        <p:spPr>
          <a:xfrm>
            <a:off x="609600" y="1417638"/>
            <a:ext cx="2197768" cy="369332"/>
          </a:xfrm>
          <a:prstGeom prst="rect">
            <a:avLst/>
          </a:prstGeom>
          <a:noFill/>
        </p:spPr>
        <p:txBody>
          <a:bodyPr wrap="square" rtlCol="0">
            <a:spAutoFit/>
          </a:bodyPr>
          <a:lstStyle/>
          <a:p>
            <a:r>
              <a:rPr lang="en-PH" i="1" dirty="0"/>
              <a:t>Table 3. RACI Matix</a:t>
            </a:r>
            <a:endParaRPr lang="en-PH" dirty="0"/>
          </a:p>
        </p:txBody>
      </p:sp>
    </p:spTree>
    <p:extLst>
      <p:ext uri="{BB962C8B-B14F-4D97-AF65-F5344CB8AC3E}">
        <p14:creationId xmlns:p14="http://schemas.microsoft.com/office/powerpoint/2010/main" val="2480713583"/>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PH" sz="3500" dirty="0"/>
              <a:t>Current Business and Technical Situations</a:t>
            </a:r>
            <a:endParaRPr sz="3500" dirty="0"/>
          </a:p>
        </p:txBody>
      </p:sp>
      <p:sp>
        <p:nvSpPr>
          <p:cNvPr id="4" name="Rectangle 1">
            <a:extLst>
              <a:ext uri="{FF2B5EF4-FFF2-40B4-BE49-F238E27FC236}">
                <a16:creationId xmlns:a16="http://schemas.microsoft.com/office/drawing/2014/main" id="{66387180-C2D0-F561-3921-21EF24F1C2A3}"/>
              </a:ext>
            </a:extLst>
          </p:cNvPr>
          <p:cNvSpPr>
            <a:spLocks noGrp="1" noChangeArrowheads="1"/>
          </p:cNvSpPr>
          <p:nvPr>
            <p:ph idx="4294967295"/>
          </p:nvPr>
        </p:nvSpPr>
        <p:spPr bwMode="auto">
          <a:xfrm>
            <a:off x="1116220" y="1171142"/>
            <a:ext cx="10584167" cy="5324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2000" b="1" i="0" u="none" strike="noStrike" cap="none" normalizeH="0" baseline="0" dirty="0">
                <a:ln>
                  <a:noFill/>
                </a:ln>
                <a:solidFill>
                  <a:schemeClr val="tx1"/>
                </a:solidFill>
                <a:effectLst/>
                <a:latin typeface="Arial" panose="020B0604020202020204" pitchFamily="34" charset="0"/>
              </a:rPr>
              <a:t>What is the current issue?</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	The shop relies on manual recording for inventory and sales, making processes 	prone to errors. </a:t>
            </a:r>
            <a:br>
              <a:rPr kumimoji="0" lang="en-US" altLang="en-US" sz="2000" b="0" i="0" u="none" strike="noStrike" cap="none" normalizeH="0" baseline="0" dirty="0">
                <a:ln>
                  <a:noFill/>
                </a:ln>
                <a:solidFill>
                  <a:schemeClr val="tx1"/>
                </a:solidFill>
                <a:effectLst/>
                <a:latin typeface="Arial" panose="020B0604020202020204" pitchFamily="34" charset="0"/>
              </a:rPr>
            </a:b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000" b="1" i="0" u="none" strike="noStrike" cap="none" normalizeH="0" baseline="0" dirty="0">
                <a:ln>
                  <a:noFill/>
                </a:ln>
                <a:solidFill>
                  <a:schemeClr val="tx1"/>
                </a:solidFill>
                <a:effectLst/>
                <a:latin typeface="Arial" panose="020B0604020202020204" pitchFamily="34" charset="0"/>
              </a:rPr>
              <a:t>Why is it important?</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	These inefficiencies lead to inaccurate stock levels and limit the ability to</a:t>
            </a:r>
            <a:r>
              <a:rPr lang="en-US" altLang="en-US" sz="2000" dirty="0"/>
              <a:t> </a:t>
            </a:r>
            <a:r>
              <a:rPr kumimoji="0" lang="en-US" altLang="en-US" sz="2000" b="0" i="0" u="none" strike="noStrike" cap="none" normalizeH="0" baseline="0" dirty="0">
                <a:ln>
                  <a:noFill/>
                </a:ln>
                <a:solidFill>
                  <a:schemeClr val="tx1"/>
                </a:solidFill>
                <a:effectLst/>
                <a:latin typeface="Arial" panose="020B0604020202020204" pitchFamily="34" charset="0"/>
              </a:rPr>
              <a:t>make 	smart business decisions. </a:t>
            </a:r>
            <a:br>
              <a:rPr kumimoji="0" lang="en-US" altLang="en-US" sz="2000" b="0" i="0" u="none" strike="noStrike" cap="none" normalizeH="0" baseline="0" dirty="0">
                <a:ln>
                  <a:noFill/>
                </a:ln>
                <a:solidFill>
                  <a:schemeClr val="tx1"/>
                </a:solidFill>
                <a:effectLst/>
                <a:latin typeface="Arial" panose="020B0604020202020204" pitchFamily="34" charset="0"/>
              </a:rPr>
            </a:b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lvl="0" indent="0" defTabSz="914400" eaLnBrk="0" fontAlgn="base" hangingPunct="0">
              <a:spcBef>
                <a:spcPct val="0"/>
              </a:spcBef>
              <a:spcAft>
                <a:spcPct val="0"/>
              </a:spcAft>
              <a:buNone/>
            </a:pPr>
            <a:r>
              <a:rPr kumimoji="0" lang="en-US" altLang="en-US" sz="2000" b="1" i="0" u="none" strike="noStrike" cap="none" normalizeH="0" baseline="0" dirty="0">
                <a:ln>
                  <a:noFill/>
                </a:ln>
                <a:solidFill>
                  <a:schemeClr val="tx1"/>
                </a:solidFill>
                <a:effectLst/>
                <a:latin typeface="Arial" panose="020B0604020202020204" pitchFamily="34" charset="0"/>
              </a:rPr>
              <a:t>Who is affected?</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	The Owner, Secretary, and Employees are affected as they handle daily operations 	using manual methods, clients are affected as well with inaccurate stock information 	and </a:t>
            </a:r>
            <a:r>
              <a:rPr lang="en-US" sz="2000" dirty="0"/>
              <a:t>delayed availability of products, resulting in reduced 	service 	efficiency and 	customer dissatisfaction.</a:t>
            </a:r>
            <a:br>
              <a:rPr kumimoji="0" lang="en-US" altLang="en-US" sz="2000" b="0" i="0" u="none" strike="noStrike" cap="none" normalizeH="0" baseline="0" dirty="0">
                <a:ln>
                  <a:noFill/>
                </a:ln>
                <a:solidFill>
                  <a:schemeClr val="tx1"/>
                </a:solidFill>
                <a:effectLst/>
                <a:latin typeface="Arial" panose="020B0604020202020204" pitchFamily="34" charset="0"/>
              </a:rPr>
            </a:b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000" b="1" i="0" u="none" strike="noStrike" cap="none" normalizeH="0" baseline="0" dirty="0">
                <a:ln>
                  <a:noFill/>
                </a:ln>
                <a:solidFill>
                  <a:schemeClr val="tx1"/>
                </a:solidFill>
                <a:effectLst/>
                <a:latin typeface="Arial" panose="020B0604020202020204" pitchFamily="34" charset="0"/>
              </a:rPr>
              <a:t>What problem are we solving?</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	The lack of a digital system prevents efficient operations, proper inventory 	management, and data-driven decision-making. </a:t>
            </a:r>
          </a:p>
        </p:txBody>
      </p:sp>
    </p:spTree>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PH" dirty="0"/>
              <a:t>Proposed Current and</a:t>
            </a:r>
            <a:br>
              <a:rPr lang="en-PH" dirty="0"/>
            </a:br>
            <a:r>
              <a:rPr lang="en-PH" dirty="0"/>
              <a:t>Technical Situations</a:t>
            </a:r>
            <a:endParaRPr dirty="0"/>
          </a:p>
        </p:txBody>
      </p:sp>
      <p:sp>
        <p:nvSpPr>
          <p:cNvPr id="3" name="Content Placeholder 2"/>
          <p:cNvSpPr>
            <a:spLocks noGrp="1"/>
          </p:cNvSpPr>
          <p:nvPr>
            <p:ph idx="4294967295"/>
          </p:nvPr>
        </p:nvSpPr>
        <p:spPr>
          <a:xfrm>
            <a:off x="1291388" y="1417638"/>
            <a:ext cx="10045205" cy="4525963"/>
          </a:xfrm>
        </p:spPr>
        <p:txBody>
          <a:bodyPr>
            <a:noAutofit/>
          </a:bodyPr>
          <a:lstStyle/>
          <a:p>
            <a:pPr marL="0" indent="0">
              <a:lnSpc>
                <a:spcPct val="220000"/>
              </a:lnSpc>
              <a:buNone/>
            </a:pPr>
            <a:r>
              <a:rPr lang="en-US" sz="1850" dirty="0"/>
              <a:t>To solve the inefficiencies of manual operations, </a:t>
            </a:r>
            <a:r>
              <a:rPr lang="en-US" sz="1850" i="1" dirty="0"/>
              <a:t>Auto-</a:t>
            </a:r>
            <a:r>
              <a:rPr lang="en-US" sz="1850" i="1" dirty="0" err="1"/>
              <a:t>ComPAnIon</a:t>
            </a:r>
            <a:r>
              <a:rPr lang="en-US" sz="1850" dirty="0"/>
              <a:t> introduces a fully digital system that combines Point-of-Sale, Inventory Management, and Predictive AI in one platform. It replaces handwritten records with a centralized database, enabling real-time inventory tracking, faster transactions, and more accurate data management. Designed as a desktop-based system using a local server, it remains practical and accessible without requiring additional hardware investment. With built-in analytics like demand forecasting and profit prediction, the system empowers the business to make faster, smarter, and more informed decisions.</a:t>
            </a:r>
            <a:endParaRPr sz="1850" dirty="0"/>
          </a:p>
        </p:txBody>
      </p:sp>
    </p:spTree>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Objectives</a:t>
            </a:r>
          </a:p>
        </p:txBody>
      </p:sp>
      <p:sp>
        <p:nvSpPr>
          <p:cNvPr id="3" name="Content Placeholder 2"/>
          <p:cNvSpPr>
            <a:spLocks noGrp="1"/>
          </p:cNvSpPr>
          <p:nvPr>
            <p:ph idx="4294967295"/>
          </p:nvPr>
        </p:nvSpPr>
        <p:spPr>
          <a:xfrm>
            <a:off x="834189" y="1600201"/>
            <a:ext cx="10523621" cy="4525963"/>
          </a:xfrm>
        </p:spPr>
        <p:txBody>
          <a:bodyPr>
            <a:normAutofit lnSpcReduction="10000"/>
          </a:bodyPr>
          <a:lstStyle/>
          <a:p>
            <a:pPr marL="0" indent="0">
              <a:buNone/>
            </a:pPr>
            <a:r>
              <a:rPr lang="en-US" b="1" dirty="0"/>
              <a:t>General Objective</a:t>
            </a:r>
          </a:p>
          <a:p>
            <a:pPr lvl="1"/>
            <a:r>
              <a:rPr lang="en-US" dirty="0"/>
              <a:t>To develop a digital system that streamlines inventory and sales operations while leveraging AI for smarter business decisions.</a:t>
            </a:r>
          </a:p>
          <a:p>
            <a:pPr marL="0" indent="0">
              <a:buNone/>
            </a:pPr>
            <a:endParaRPr lang="en-US" dirty="0"/>
          </a:p>
          <a:p>
            <a:pPr marL="0" indent="0">
              <a:buNone/>
            </a:pPr>
            <a:r>
              <a:rPr lang="en-US" b="1" dirty="0"/>
              <a:t>Specific Objectives</a:t>
            </a:r>
          </a:p>
          <a:p>
            <a:pPr lvl="1"/>
            <a:r>
              <a:rPr lang="en-US" dirty="0"/>
              <a:t>Digitize inventory tracking through a centralized database. </a:t>
            </a:r>
          </a:p>
          <a:p>
            <a:pPr lvl="1"/>
            <a:r>
              <a:rPr lang="en-US" dirty="0"/>
              <a:t>Automate sales transactions and receipt generation.</a:t>
            </a:r>
          </a:p>
          <a:p>
            <a:pPr lvl="1"/>
            <a:r>
              <a:rPr lang="en-US" dirty="0"/>
              <a:t>Enable forecasting and data-driven insights using AI.</a:t>
            </a:r>
          </a:p>
          <a:p>
            <a:endParaRPr lang="en-PH"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Benefits and Impact</a:t>
            </a:r>
          </a:p>
        </p:txBody>
      </p:sp>
      <p:graphicFrame>
        <p:nvGraphicFramePr>
          <p:cNvPr id="4" name="Table 3">
            <a:extLst>
              <a:ext uri="{FF2B5EF4-FFF2-40B4-BE49-F238E27FC236}">
                <a16:creationId xmlns:a16="http://schemas.microsoft.com/office/drawing/2014/main" id="{AEE60638-E287-1C3C-A72C-308573D2E054}"/>
              </a:ext>
            </a:extLst>
          </p:cNvPr>
          <p:cNvGraphicFramePr>
            <a:graphicFrameLocks noGrp="1"/>
          </p:cNvGraphicFramePr>
          <p:nvPr>
            <p:extLst>
              <p:ext uri="{D42A27DB-BD31-4B8C-83A1-F6EECF244321}">
                <p14:modId xmlns:p14="http://schemas.microsoft.com/office/powerpoint/2010/main" val="2622586857"/>
              </p:ext>
            </p:extLst>
          </p:nvPr>
        </p:nvGraphicFramePr>
        <p:xfrm>
          <a:off x="737936" y="1648794"/>
          <a:ext cx="10085798" cy="3291840"/>
        </p:xfrm>
        <a:graphic>
          <a:graphicData uri="http://schemas.openxmlformats.org/drawingml/2006/table">
            <a:tbl>
              <a:tblPr firstRow="1" bandRow="1">
                <a:tableStyleId>{5940675A-B579-460E-94D1-54222C63F5DA}</a:tableStyleId>
              </a:tblPr>
              <a:tblGrid>
                <a:gridCol w="2955533">
                  <a:extLst>
                    <a:ext uri="{9D8B030D-6E8A-4147-A177-3AD203B41FA5}">
                      <a16:colId xmlns:a16="http://schemas.microsoft.com/office/drawing/2014/main" val="2973197974"/>
                    </a:ext>
                  </a:extLst>
                </a:gridCol>
                <a:gridCol w="7130265">
                  <a:extLst>
                    <a:ext uri="{9D8B030D-6E8A-4147-A177-3AD203B41FA5}">
                      <a16:colId xmlns:a16="http://schemas.microsoft.com/office/drawing/2014/main" val="211944209"/>
                    </a:ext>
                  </a:extLst>
                </a:gridCol>
              </a:tblGrid>
              <a:tr h="125579">
                <a:tc>
                  <a:txBody>
                    <a:bodyPr/>
                    <a:lstStyle/>
                    <a:p>
                      <a:pPr algn="ctr"/>
                      <a:r>
                        <a:rPr lang="en-PH" dirty="0">
                          <a:solidFill>
                            <a:schemeClr val="bg1"/>
                          </a:solidFill>
                          <a:latin typeface="Arial" panose="020B0604020202020204" pitchFamily="34" charset="0"/>
                          <a:cs typeface="Arial" panose="020B0604020202020204" pitchFamily="34" charset="0"/>
                        </a:rPr>
                        <a:t>Key Users</a:t>
                      </a:r>
                    </a:p>
                  </a:txBody>
                  <a:tcPr anchor="ctr">
                    <a:solidFill>
                      <a:srgbClr val="7E0000"/>
                    </a:solidFill>
                  </a:tcPr>
                </a:tc>
                <a:tc>
                  <a:txBody>
                    <a:bodyPr/>
                    <a:lstStyle/>
                    <a:p>
                      <a:pPr algn="ctr"/>
                      <a:r>
                        <a:rPr lang="en-PH" dirty="0">
                          <a:solidFill>
                            <a:schemeClr val="bg1"/>
                          </a:solidFill>
                          <a:latin typeface="Arial" panose="020B0604020202020204" pitchFamily="34" charset="0"/>
                          <a:cs typeface="Arial" panose="020B0604020202020204" pitchFamily="34" charset="0"/>
                        </a:rPr>
                        <a:t>Impact and Benefits</a:t>
                      </a:r>
                    </a:p>
                  </a:txBody>
                  <a:tcPr anchor="ctr">
                    <a:solidFill>
                      <a:srgbClr val="7E0000"/>
                    </a:solidFill>
                  </a:tcPr>
                </a:tc>
                <a:extLst>
                  <a:ext uri="{0D108BD9-81ED-4DB2-BD59-A6C34878D82A}">
                    <a16:rowId xmlns:a16="http://schemas.microsoft.com/office/drawing/2014/main" val="38945547"/>
                  </a:ext>
                </a:extLst>
              </a:tr>
              <a:tr h="582049">
                <a:tc>
                  <a:txBody>
                    <a:bodyPr/>
                    <a:lstStyle/>
                    <a:p>
                      <a:r>
                        <a:rPr lang="en-PH" dirty="0">
                          <a:latin typeface="Arial" panose="020B0604020202020204" pitchFamily="34" charset="0"/>
                          <a:cs typeface="Arial" panose="020B0604020202020204" pitchFamily="34" charset="0"/>
                        </a:rPr>
                        <a:t>Owner</a:t>
                      </a:r>
                    </a:p>
                  </a:txBody>
                  <a:tcPr/>
                </a:tc>
                <a:tc>
                  <a:txBody>
                    <a:bodyPr/>
                    <a:lstStyle/>
                    <a:p>
                      <a:r>
                        <a:rPr lang="en-PH" dirty="0">
                          <a:latin typeface="Arial" panose="020B0604020202020204" pitchFamily="34" charset="0"/>
                          <a:cs typeface="Arial" panose="020B0604020202020204" pitchFamily="34" charset="0"/>
                        </a:rPr>
                        <a:t>Gains full view of sales, inventory, and analytics, enabling faster and more informed decision-making.</a:t>
                      </a:r>
                    </a:p>
                  </a:txBody>
                  <a:tcPr/>
                </a:tc>
                <a:extLst>
                  <a:ext uri="{0D108BD9-81ED-4DB2-BD59-A6C34878D82A}">
                    <a16:rowId xmlns:a16="http://schemas.microsoft.com/office/drawing/2014/main" val="886891160"/>
                  </a:ext>
                </a:extLst>
              </a:tr>
              <a:tr h="582049">
                <a:tc>
                  <a:txBody>
                    <a:bodyPr/>
                    <a:lstStyle/>
                    <a:p>
                      <a:r>
                        <a:rPr lang="en-PH" dirty="0">
                          <a:latin typeface="Arial" panose="020B0604020202020204" pitchFamily="34" charset="0"/>
                          <a:cs typeface="Arial" panose="020B0604020202020204" pitchFamily="34" charset="0"/>
                        </a:rPr>
                        <a:t>Secretary</a:t>
                      </a:r>
                    </a:p>
                  </a:txBody>
                  <a:tcPr/>
                </a:tc>
                <a:tc>
                  <a:txBody>
                    <a:bodyPr/>
                    <a:lstStyle/>
                    <a:p>
                      <a:r>
                        <a:rPr lang="en-PH" dirty="0">
                          <a:latin typeface="Arial" panose="020B0604020202020204" pitchFamily="34" charset="0"/>
                          <a:cs typeface="Arial" panose="020B0604020202020204" pitchFamily="34" charset="0"/>
                        </a:rPr>
                        <a:t>Streamlines inventory updates and transactions recording, reducing manual workload.</a:t>
                      </a:r>
                    </a:p>
                  </a:txBody>
                  <a:tcPr/>
                </a:tc>
                <a:extLst>
                  <a:ext uri="{0D108BD9-81ED-4DB2-BD59-A6C34878D82A}">
                    <a16:rowId xmlns:a16="http://schemas.microsoft.com/office/drawing/2014/main" val="3049190214"/>
                  </a:ext>
                </a:extLst>
              </a:tr>
              <a:tr h="337219">
                <a:tc>
                  <a:txBody>
                    <a:bodyPr/>
                    <a:lstStyle/>
                    <a:p>
                      <a:r>
                        <a:rPr lang="en-PH" dirty="0">
                          <a:latin typeface="Arial" panose="020B0604020202020204" pitchFamily="34" charset="0"/>
                          <a:cs typeface="Arial" panose="020B0604020202020204" pitchFamily="34" charset="0"/>
                        </a:rPr>
                        <a:t>Employee</a:t>
                      </a:r>
                    </a:p>
                  </a:txBody>
                  <a:tcPr/>
                </a:tc>
                <a:tc>
                  <a:txBody>
                    <a:bodyPr/>
                    <a:lstStyle/>
                    <a:p>
                      <a:r>
                        <a:rPr lang="en-PH" dirty="0">
                          <a:latin typeface="Arial" panose="020B0604020202020204" pitchFamily="34" charset="0"/>
                          <a:cs typeface="Arial" panose="020B0604020202020204" pitchFamily="34" charset="0"/>
                        </a:rPr>
                        <a:t>Process sales and reduces operational errors.</a:t>
                      </a:r>
                    </a:p>
                  </a:txBody>
                  <a:tcPr/>
                </a:tc>
                <a:extLst>
                  <a:ext uri="{0D108BD9-81ED-4DB2-BD59-A6C34878D82A}">
                    <a16:rowId xmlns:a16="http://schemas.microsoft.com/office/drawing/2014/main" val="3614983783"/>
                  </a:ext>
                </a:extLst>
              </a:tr>
              <a:tr h="582049">
                <a:tc>
                  <a:txBody>
                    <a:bodyPr/>
                    <a:lstStyle/>
                    <a:p>
                      <a:r>
                        <a:rPr lang="en-PH" dirty="0">
                          <a:latin typeface="Arial" panose="020B0604020202020204" pitchFamily="34" charset="0"/>
                          <a:cs typeface="Arial" panose="020B0604020202020204" pitchFamily="34" charset="0"/>
                        </a:rPr>
                        <a:t>Warehouse Staffs</a:t>
                      </a:r>
                    </a:p>
                  </a:txBody>
                  <a:tcPr/>
                </a:tc>
                <a:tc>
                  <a:txBody>
                    <a:bodyPr/>
                    <a:lstStyle/>
                    <a:p>
                      <a:r>
                        <a:rPr lang="en-PH" dirty="0">
                          <a:latin typeface="Arial" panose="020B0604020202020204" pitchFamily="34" charset="0"/>
                          <a:cs typeface="Arial" panose="020B0604020202020204" pitchFamily="34" charset="0"/>
                        </a:rPr>
                        <a:t>Improves stock monitoring and organization, timely restocking and better inventory control.</a:t>
                      </a:r>
                    </a:p>
                  </a:txBody>
                  <a:tcPr/>
                </a:tc>
                <a:extLst>
                  <a:ext uri="{0D108BD9-81ED-4DB2-BD59-A6C34878D82A}">
                    <a16:rowId xmlns:a16="http://schemas.microsoft.com/office/drawing/2014/main" val="3090192759"/>
                  </a:ext>
                </a:extLst>
              </a:tr>
              <a:tr h="582049">
                <a:tc>
                  <a:txBody>
                    <a:bodyPr/>
                    <a:lstStyle/>
                    <a:p>
                      <a:r>
                        <a:rPr lang="en-PH" dirty="0">
                          <a:latin typeface="Arial" panose="020B0604020202020204" pitchFamily="34" charset="0"/>
                          <a:cs typeface="Arial" panose="020B0604020202020204" pitchFamily="34" charset="0"/>
                        </a:rPr>
                        <a:t>Customers</a:t>
                      </a:r>
                    </a:p>
                  </a:txBody>
                  <a:tcPr/>
                </a:tc>
                <a:tc>
                  <a:txBody>
                    <a:bodyPr/>
                    <a:lstStyle/>
                    <a:p>
                      <a:r>
                        <a:rPr lang="en-PH" dirty="0">
                          <a:latin typeface="Arial" panose="020B0604020202020204" pitchFamily="34" charset="0"/>
                          <a:cs typeface="Arial" panose="020B0604020202020204" pitchFamily="34" charset="0"/>
                        </a:rPr>
                        <a:t>Experience accurate product availability and improved overall service quality. </a:t>
                      </a:r>
                    </a:p>
                  </a:txBody>
                  <a:tcPr/>
                </a:tc>
                <a:extLst>
                  <a:ext uri="{0D108BD9-81ED-4DB2-BD59-A6C34878D82A}">
                    <a16:rowId xmlns:a16="http://schemas.microsoft.com/office/drawing/2014/main" val="801922941"/>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PH" dirty="0"/>
              <a:t>Project Milestones</a:t>
            </a:r>
            <a:endParaRPr dirty="0"/>
          </a:p>
        </p:txBody>
      </p:sp>
      <p:graphicFrame>
        <p:nvGraphicFramePr>
          <p:cNvPr id="4" name="Table 3">
            <a:extLst>
              <a:ext uri="{FF2B5EF4-FFF2-40B4-BE49-F238E27FC236}">
                <a16:creationId xmlns:a16="http://schemas.microsoft.com/office/drawing/2014/main" id="{23A6BF6C-0B19-0CD1-E8EA-A73DED5EDB48}"/>
              </a:ext>
            </a:extLst>
          </p:cNvPr>
          <p:cNvGraphicFramePr>
            <a:graphicFrameLocks noGrp="1"/>
          </p:cNvGraphicFramePr>
          <p:nvPr>
            <p:extLst>
              <p:ext uri="{D42A27DB-BD31-4B8C-83A1-F6EECF244321}">
                <p14:modId xmlns:p14="http://schemas.microsoft.com/office/powerpoint/2010/main" val="1411732360"/>
              </p:ext>
            </p:extLst>
          </p:nvPr>
        </p:nvGraphicFramePr>
        <p:xfrm>
          <a:off x="1524000" y="2493617"/>
          <a:ext cx="9144000" cy="1854200"/>
        </p:xfrm>
        <a:graphic>
          <a:graphicData uri="http://schemas.openxmlformats.org/drawingml/2006/table">
            <a:tbl>
              <a:tblPr firstRow="1" bandRow="1">
                <a:tableStyleId>{5940675A-B579-460E-94D1-54222C63F5DA}</a:tableStyleId>
              </a:tblPr>
              <a:tblGrid>
                <a:gridCol w="2286000">
                  <a:extLst>
                    <a:ext uri="{9D8B030D-6E8A-4147-A177-3AD203B41FA5}">
                      <a16:colId xmlns:a16="http://schemas.microsoft.com/office/drawing/2014/main" val="2973197974"/>
                    </a:ext>
                  </a:extLst>
                </a:gridCol>
                <a:gridCol w="3810000">
                  <a:extLst>
                    <a:ext uri="{9D8B030D-6E8A-4147-A177-3AD203B41FA5}">
                      <a16:colId xmlns:a16="http://schemas.microsoft.com/office/drawing/2014/main" val="211944209"/>
                    </a:ext>
                  </a:extLst>
                </a:gridCol>
                <a:gridCol w="3048000">
                  <a:extLst>
                    <a:ext uri="{9D8B030D-6E8A-4147-A177-3AD203B41FA5}">
                      <a16:colId xmlns:a16="http://schemas.microsoft.com/office/drawing/2014/main" val="640626244"/>
                    </a:ext>
                  </a:extLst>
                </a:gridCol>
              </a:tblGrid>
              <a:tr h="370840">
                <a:tc>
                  <a:txBody>
                    <a:bodyPr/>
                    <a:lstStyle/>
                    <a:p>
                      <a:pPr algn="ctr"/>
                      <a:r>
                        <a:rPr lang="en-PH" dirty="0">
                          <a:solidFill>
                            <a:schemeClr val="bg1"/>
                          </a:solidFill>
                          <a:latin typeface="Arial" panose="020B0604020202020204" pitchFamily="34" charset="0"/>
                          <a:cs typeface="Arial" panose="020B0604020202020204" pitchFamily="34" charset="0"/>
                        </a:rPr>
                        <a:t>Date</a:t>
                      </a:r>
                    </a:p>
                  </a:txBody>
                  <a:tcPr anchor="ctr">
                    <a:solidFill>
                      <a:srgbClr val="7E0000"/>
                    </a:solidFill>
                  </a:tcPr>
                </a:tc>
                <a:tc>
                  <a:txBody>
                    <a:bodyPr/>
                    <a:lstStyle/>
                    <a:p>
                      <a:pPr algn="ctr"/>
                      <a:r>
                        <a:rPr lang="en-PH" dirty="0">
                          <a:solidFill>
                            <a:schemeClr val="bg1"/>
                          </a:solidFill>
                          <a:latin typeface="Arial" panose="020B0604020202020204" pitchFamily="34" charset="0"/>
                          <a:cs typeface="Arial" panose="020B0604020202020204" pitchFamily="34" charset="0"/>
                        </a:rPr>
                        <a:t>Activity</a:t>
                      </a:r>
                    </a:p>
                  </a:txBody>
                  <a:tcPr anchor="ctr">
                    <a:solidFill>
                      <a:srgbClr val="7E0000"/>
                    </a:solidFill>
                  </a:tcPr>
                </a:tc>
                <a:tc>
                  <a:txBody>
                    <a:bodyPr/>
                    <a:lstStyle/>
                    <a:p>
                      <a:pPr algn="ctr"/>
                      <a:r>
                        <a:rPr lang="en-PH" dirty="0">
                          <a:solidFill>
                            <a:schemeClr val="bg1"/>
                          </a:solidFill>
                          <a:latin typeface="Arial" panose="020B0604020202020204" pitchFamily="34" charset="0"/>
                          <a:cs typeface="Arial" panose="020B0604020202020204" pitchFamily="34" charset="0"/>
                        </a:rPr>
                        <a:t>Status</a:t>
                      </a:r>
                    </a:p>
                  </a:txBody>
                  <a:tcPr anchor="ctr">
                    <a:solidFill>
                      <a:srgbClr val="7E0000"/>
                    </a:solidFill>
                  </a:tcPr>
                </a:tc>
                <a:extLst>
                  <a:ext uri="{0D108BD9-81ED-4DB2-BD59-A6C34878D82A}">
                    <a16:rowId xmlns:a16="http://schemas.microsoft.com/office/drawing/2014/main" val="38945547"/>
                  </a:ext>
                </a:extLst>
              </a:tr>
              <a:tr h="370840">
                <a:tc>
                  <a:txBody>
                    <a:bodyPr/>
                    <a:lstStyle/>
                    <a:p>
                      <a:r>
                        <a:rPr lang="en-PH" dirty="0">
                          <a:latin typeface="Arial" panose="020B0604020202020204" pitchFamily="34" charset="0"/>
                          <a:cs typeface="Arial" panose="020B0604020202020204" pitchFamily="34" charset="0"/>
                        </a:rPr>
                        <a:t>March 31 – April 24</a:t>
                      </a:r>
                    </a:p>
                  </a:txBody>
                  <a:tcPr/>
                </a:tc>
                <a:tc>
                  <a:txBody>
                    <a:bodyPr/>
                    <a:lstStyle/>
                    <a:p>
                      <a:r>
                        <a:rPr lang="en-PH" dirty="0">
                          <a:latin typeface="Arial" panose="020B0604020202020204" pitchFamily="34" charset="0"/>
                          <a:cs typeface="Arial" panose="020B0604020202020204" pitchFamily="34" charset="0"/>
                        </a:rPr>
                        <a:t>Finishing Design Conceptualization </a:t>
                      </a:r>
                    </a:p>
                  </a:txBody>
                  <a:tcPr/>
                </a:tc>
                <a:tc>
                  <a:txBody>
                    <a:bodyPr/>
                    <a:lstStyle/>
                    <a:p>
                      <a:r>
                        <a:rPr lang="en-PH" dirty="0">
                          <a:latin typeface="Arial" panose="020B0604020202020204" pitchFamily="34" charset="0"/>
                          <a:cs typeface="Arial" panose="020B0604020202020204" pitchFamily="34" charset="0"/>
                        </a:rPr>
                        <a:t>Done</a:t>
                      </a:r>
                    </a:p>
                  </a:txBody>
                  <a:tcPr/>
                </a:tc>
                <a:extLst>
                  <a:ext uri="{0D108BD9-81ED-4DB2-BD59-A6C34878D82A}">
                    <a16:rowId xmlns:a16="http://schemas.microsoft.com/office/drawing/2014/main" val="886891160"/>
                  </a:ext>
                </a:extLst>
              </a:tr>
              <a:tr h="370840">
                <a:tc>
                  <a:txBody>
                    <a:bodyPr/>
                    <a:lstStyle/>
                    <a:p>
                      <a:r>
                        <a:rPr lang="en-PH" dirty="0">
                          <a:latin typeface="Arial" panose="020B0604020202020204" pitchFamily="34" charset="0"/>
                          <a:cs typeface="Arial" panose="020B0604020202020204" pitchFamily="34" charset="0"/>
                        </a:rPr>
                        <a:t>April 3 – April 18</a:t>
                      </a:r>
                    </a:p>
                  </a:txBody>
                  <a:tcPr/>
                </a:tc>
                <a:tc>
                  <a:txBody>
                    <a:bodyPr/>
                    <a:lstStyle/>
                    <a:p>
                      <a:r>
                        <a:rPr lang="en-PH" dirty="0">
                          <a:latin typeface="Arial" panose="020B0604020202020204" pitchFamily="34" charset="0"/>
                          <a:cs typeface="Arial" panose="020B0604020202020204" pitchFamily="34" charset="0"/>
                        </a:rPr>
                        <a:t>Development &amp; Testing</a:t>
                      </a:r>
                    </a:p>
                  </a:txBody>
                  <a:tcPr/>
                </a:tc>
                <a:tc>
                  <a:txBody>
                    <a:bodyPr/>
                    <a:lstStyle/>
                    <a:p>
                      <a:r>
                        <a:rPr lang="en-PH" dirty="0">
                          <a:latin typeface="Arial" panose="020B0604020202020204" pitchFamily="34" charset="0"/>
                          <a:cs typeface="Arial" panose="020B0604020202020204" pitchFamily="34" charset="0"/>
                        </a:rPr>
                        <a:t>Done</a:t>
                      </a:r>
                    </a:p>
                  </a:txBody>
                  <a:tcPr/>
                </a:tc>
                <a:extLst>
                  <a:ext uri="{0D108BD9-81ED-4DB2-BD59-A6C34878D82A}">
                    <a16:rowId xmlns:a16="http://schemas.microsoft.com/office/drawing/2014/main" val="3049190214"/>
                  </a:ext>
                </a:extLst>
              </a:tr>
              <a:tr h="370840">
                <a:tc>
                  <a:txBody>
                    <a:bodyPr/>
                    <a:lstStyle/>
                    <a:p>
                      <a:r>
                        <a:rPr lang="en-PH" dirty="0">
                          <a:latin typeface="Arial" panose="020B0604020202020204" pitchFamily="34" charset="0"/>
                          <a:cs typeface="Arial" panose="020B0604020202020204" pitchFamily="34" charset="0"/>
                        </a:rPr>
                        <a:t>April 17 – April 23</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PH" dirty="0">
                          <a:latin typeface="Arial" panose="020B0604020202020204" pitchFamily="34" charset="0"/>
                          <a:cs typeface="Arial" panose="020B0604020202020204" pitchFamily="34" charset="0"/>
                        </a:rPr>
                        <a:t>Development &amp; Testing 2.0</a:t>
                      </a:r>
                    </a:p>
                  </a:txBody>
                  <a:tcPr/>
                </a:tc>
                <a:tc>
                  <a:txBody>
                    <a:bodyPr/>
                    <a:lstStyle/>
                    <a:p>
                      <a:r>
                        <a:rPr lang="en-PH" dirty="0">
                          <a:latin typeface="Arial" panose="020B0604020202020204" pitchFamily="34" charset="0"/>
                          <a:cs typeface="Arial" panose="020B0604020202020204" pitchFamily="34" charset="0"/>
                        </a:rPr>
                        <a:t>Done</a:t>
                      </a:r>
                    </a:p>
                  </a:txBody>
                  <a:tcPr/>
                </a:tc>
                <a:extLst>
                  <a:ext uri="{0D108BD9-81ED-4DB2-BD59-A6C34878D82A}">
                    <a16:rowId xmlns:a16="http://schemas.microsoft.com/office/drawing/2014/main" val="3614983783"/>
                  </a:ext>
                </a:extLst>
              </a:tr>
              <a:tr h="370840">
                <a:tc>
                  <a:txBody>
                    <a:bodyPr/>
                    <a:lstStyle/>
                    <a:p>
                      <a:r>
                        <a:rPr lang="en-PH" dirty="0">
                          <a:latin typeface="Arial" panose="020B0604020202020204" pitchFamily="34" charset="0"/>
                          <a:cs typeface="Arial" panose="020B0604020202020204" pitchFamily="34" charset="0"/>
                        </a:rPr>
                        <a:t>April 20 – April 27</a:t>
                      </a:r>
                    </a:p>
                  </a:txBody>
                  <a:tcPr/>
                </a:tc>
                <a:tc>
                  <a:txBody>
                    <a:bodyPr/>
                    <a:lstStyle/>
                    <a:p>
                      <a:r>
                        <a:rPr lang="en-PH" dirty="0">
                          <a:latin typeface="Arial" panose="020B0604020202020204" pitchFamily="34" charset="0"/>
                          <a:cs typeface="Arial" panose="020B0604020202020204" pitchFamily="34" charset="0"/>
                        </a:rPr>
                        <a:t>Final Report Documentation</a:t>
                      </a:r>
                    </a:p>
                  </a:txBody>
                  <a:tcPr/>
                </a:tc>
                <a:tc>
                  <a:txBody>
                    <a:bodyPr/>
                    <a:lstStyle/>
                    <a:p>
                      <a:r>
                        <a:rPr lang="en-PH" dirty="0">
                          <a:latin typeface="Arial" panose="020B0604020202020204" pitchFamily="34" charset="0"/>
                          <a:cs typeface="Arial" panose="020B0604020202020204" pitchFamily="34" charset="0"/>
                        </a:rPr>
                        <a:t>Done</a:t>
                      </a:r>
                    </a:p>
                  </a:txBody>
                  <a:tcPr/>
                </a:tc>
                <a:extLst>
                  <a:ext uri="{0D108BD9-81ED-4DB2-BD59-A6C34878D82A}">
                    <a16:rowId xmlns:a16="http://schemas.microsoft.com/office/drawing/2014/main" val="3090192759"/>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CF327-EFEA-C9C1-5659-C8E7C9659C28}"/>
              </a:ext>
            </a:extLst>
          </p:cNvPr>
          <p:cNvSpPr>
            <a:spLocks noGrp="1"/>
          </p:cNvSpPr>
          <p:nvPr>
            <p:ph type="title"/>
          </p:nvPr>
        </p:nvSpPr>
        <p:spPr/>
        <p:txBody>
          <a:bodyPr/>
          <a:lstStyle/>
          <a:p>
            <a:r>
              <a:rPr lang="en-PH" dirty="0"/>
              <a:t>Constraints Analysis</a:t>
            </a:r>
          </a:p>
        </p:txBody>
      </p:sp>
      <p:graphicFrame>
        <p:nvGraphicFramePr>
          <p:cNvPr id="5" name="Table 4">
            <a:extLst>
              <a:ext uri="{FF2B5EF4-FFF2-40B4-BE49-F238E27FC236}">
                <a16:creationId xmlns:a16="http://schemas.microsoft.com/office/drawing/2014/main" id="{A88ECBCF-C878-EFDE-73C5-1AC756708160}"/>
              </a:ext>
            </a:extLst>
          </p:cNvPr>
          <p:cNvGraphicFramePr>
            <a:graphicFrameLocks noGrp="1"/>
          </p:cNvGraphicFramePr>
          <p:nvPr>
            <p:extLst>
              <p:ext uri="{D42A27DB-BD31-4B8C-83A1-F6EECF244321}">
                <p14:modId xmlns:p14="http://schemas.microsoft.com/office/powerpoint/2010/main" val="2545988330"/>
              </p:ext>
            </p:extLst>
          </p:nvPr>
        </p:nvGraphicFramePr>
        <p:xfrm>
          <a:off x="1112520" y="1737996"/>
          <a:ext cx="9646920" cy="3672840"/>
        </p:xfrm>
        <a:graphic>
          <a:graphicData uri="http://schemas.openxmlformats.org/drawingml/2006/table">
            <a:tbl>
              <a:tblPr firstRow="1" bandRow="1">
                <a:tableStyleId>{5940675A-B579-460E-94D1-54222C63F5DA}</a:tableStyleId>
              </a:tblPr>
              <a:tblGrid>
                <a:gridCol w="3108960">
                  <a:extLst>
                    <a:ext uri="{9D8B030D-6E8A-4147-A177-3AD203B41FA5}">
                      <a16:colId xmlns:a16="http://schemas.microsoft.com/office/drawing/2014/main" val="2973197974"/>
                    </a:ext>
                  </a:extLst>
                </a:gridCol>
                <a:gridCol w="6537960">
                  <a:extLst>
                    <a:ext uri="{9D8B030D-6E8A-4147-A177-3AD203B41FA5}">
                      <a16:colId xmlns:a16="http://schemas.microsoft.com/office/drawing/2014/main" val="211944209"/>
                    </a:ext>
                  </a:extLst>
                </a:gridCol>
              </a:tblGrid>
              <a:tr h="370840">
                <a:tc>
                  <a:txBody>
                    <a:bodyPr/>
                    <a:lstStyle/>
                    <a:p>
                      <a:pPr algn="ctr"/>
                      <a:r>
                        <a:rPr lang="en-PH" dirty="0">
                          <a:solidFill>
                            <a:schemeClr val="bg1"/>
                          </a:solidFill>
                          <a:latin typeface="Arial" panose="020B0604020202020204" pitchFamily="34" charset="0"/>
                          <a:cs typeface="Arial" panose="020B0604020202020204" pitchFamily="34" charset="0"/>
                        </a:rPr>
                        <a:t>Problems Encountered</a:t>
                      </a:r>
                    </a:p>
                  </a:txBody>
                  <a:tcPr anchor="ctr">
                    <a:solidFill>
                      <a:srgbClr val="7E0000"/>
                    </a:solidFill>
                  </a:tcPr>
                </a:tc>
                <a:tc>
                  <a:txBody>
                    <a:bodyPr/>
                    <a:lstStyle/>
                    <a:p>
                      <a:pPr algn="ctr"/>
                      <a:r>
                        <a:rPr lang="en-PH" dirty="0">
                          <a:solidFill>
                            <a:schemeClr val="bg1"/>
                          </a:solidFill>
                          <a:latin typeface="Arial" panose="020B0604020202020204" pitchFamily="34" charset="0"/>
                          <a:cs typeface="Arial" panose="020B0604020202020204" pitchFamily="34" charset="0"/>
                        </a:rPr>
                        <a:t>Resolutions</a:t>
                      </a:r>
                    </a:p>
                  </a:txBody>
                  <a:tcPr anchor="ctr">
                    <a:solidFill>
                      <a:srgbClr val="7E0000"/>
                    </a:solidFill>
                  </a:tcPr>
                </a:tc>
                <a:extLst>
                  <a:ext uri="{0D108BD9-81ED-4DB2-BD59-A6C34878D82A}">
                    <a16:rowId xmlns:a16="http://schemas.microsoft.com/office/drawing/2014/main" val="38945547"/>
                  </a:ext>
                </a:extLst>
              </a:tr>
              <a:tr h="370840">
                <a:tc>
                  <a:txBody>
                    <a:bodyPr/>
                    <a:lstStyle/>
                    <a:p>
                      <a:pPr>
                        <a:buNone/>
                      </a:pPr>
                      <a:r>
                        <a:rPr lang="en-US"/>
                        <a:t>Limited flexibility from open-source Java-based system</a:t>
                      </a:r>
                    </a:p>
                  </a:txBody>
                  <a:tcPr anchor="ctr"/>
                </a:tc>
                <a:tc>
                  <a:txBody>
                    <a:bodyPr/>
                    <a:lstStyle/>
                    <a:p>
                      <a:pPr>
                        <a:buNone/>
                      </a:pPr>
                      <a:r>
                        <a:rPr lang="en-US" dirty="0"/>
                        <a:t>Rebuilt system structure and UI based on Figma design</a:t>
                      </a:r>
                    </a:p>
                  </a:txBody>
                  <a:tcPr anchor="ctr"/>
                </a:tc>
                <a:extLst>
                  <a:ext uri="{0D108BD9-81ED-4DB2-BD59-A6C34878D82A}">
                    <a16:rowId xmlns:a16="http://schemas.microsoft.com/office/drawing/2014/main" val="1896764402"/>
                  </a:ext>
                </a:extLst>
              </a:tr>
              <a:tr h="370840">
                <a:tc>
                  <a:txBody>
                    <a:bodyPr/>
                    <a:lstStyle/>
                    <a:p>
                      <a:pPr>
                        <a:buNone/>
                      </a:pPr>
                      <a:r>
                        <a:rPr lang="en-PH"/>
                        <a:t>Outdated Java Swing framework</a:t>
                      </a:r>
                    </a:p>
                  </a:txBody>
                  <a:tcPr anchor="ctr"/>
                </a:tc>
                <a:tc>
                  <a:txBody>
                    <a:bodyPr/>
                    <a:lstStyle/>
                    <a:p>
                      <a:pPr>
                        <a:buNone/>
                      </a:pPr>
                      <a:r>
                        <a:rPr lang="en-US"/>
                        <a:t>Migrated to JavaFX for better UI flexibility</a:t>
                      </a:r>
                    </a:p>
                  </a:txBody>
                  <a:tcPr anchor="ctr"/>
                </a:tc>
                <a:extLst>
                  <a:ext uri="{0D108BD9-81ED-4DB2-BD59-A6C34878D82A}">
                    <a16:rowId xmlns:a16="http://schemas.microsoft.com/office/drawing/2014/main" val="287700720"/>
                  </a:ext>
                </a:extLst>
              </a:tr>
              <a:tr h="370840">
                <a:tc>
                  <a:txBody>
                    <a:bodyPr/>
                    <a:lstStyle/>
                    <a:p>
                      <a:pPr>
                        <a:buNone/>
                      </a:pPr>
                      <a:r>
                        <a:rPr lang="en-PH"/>
                        <a:t>No guaranteed WiFi setup</a:t>
                      </a:r>
                    </a:p>
                  </a:txBody>
                  <a:tcPr anchor="ctr"/>
                </a:tc>
                <a:tc>
                  <a:txBody>
                    <a:bodyPr/>
                    <a:lstStyle/>
                    <a:p>
                      <a:pPr>
                        <a:buNone/>
                      </a:pPr>
                      <a:r>
                        <a:rPr lang="en-PH"/>
                        <a:t>Used localhost server via Flask for offline access</a:t>
                      </a:r>
                    </a:p>
                  </a:txBody>
                  <a:tcPr anchor="ctr"/>
                </a:tc>
                <a:extLst>
                  <a:ext uri="{0D108BD9-81ED-4DB2-BD59-A6C34878D82A}">
                    <a16:rowId xmlns:a16="http://schemas.microsoft.com/office/drawing/2014/main" val="2841973460"/>
                  </a:ext>
                </a:extLst>
              </a:tr>
              <a:tr h="370840">
                <a:tc>
                  <a:txBody>
                    <a:bodyPr/>
                    <a:lstStyle/>
                    <a:p>
                      <a:pPr>
                        <a:buNone/>
                      </a:pPr>
                      <a:r>
                        <a:rPr lang="en-US"/>
                        <a:t>Required transaction approval by Owner</a:t>
                      </a:r>
                    </a:p>
                  </a:txBody>
                  <a:tcPr anchor="ctr"/>
                </a:tc>
                <a:tc>
                  <a:txBody>
                    <a:bodyPr/>
                    <a:lstStyle/>
                    <a:p>
                      <a:pPr>
                        <a:buNone/>
                      </a:pPr>
                      <a:r>
                        <a:rPr lang="en-US" dirty="0"/>
                        <a:t>Added </a:t>
                      </a:r>
                      <a:r>
                        <a:rPr lang="en-US" b="0" dirty="0"/>
                        <a:t>Pending Transactions </a:t>
                      </a:r>
                      <a:r>
                        <a:rPr lang="en-US" dirty="0"/>
                        <a:t>with approval workflow</a:t>
                      </a:r>
                    </a:p>
                  </a:txBody>
                  <a:tcPr anchor="ctr"/>
                </a:tc>
                <a:extLst>
                  <a:ext uri="{0D108BD9-81ED-4DB2-BD59-A6C34878D82A}">
                    <a16:rowId xmlns:a16="http://schemas.microsoft.com/office/drawing/2014/main" val="1171551847"/>
                  </a:ext>
                </a:extLst>
              </a:tr>
              <a:tr h="370840">
                <a:tc>
                  <a:txBody>
                    <a:bodyPr/>
                    <a:lstStyle/>
                    <a:p>
                      <a:pPr>
                        <a:buNone/>
                      </a:pPr>
                      <a:r>
                        <a:rPr lang="en-US"/>
                        <a:t>Tablets not a priority for client</a:t>
                      </a:r>
                    </a:p>
                  </a:txBody>
                  <a:tcPr anchor="ctr"/>
                </a:tc>
                <a:tc>
                  <a:txBody>
                    <a:bodyPr/>
                    <a:lstStyle/>
                    <a:p>
                      <a:pPr>
                        <a:buNone/>
                      </a:pPr>
                      <a:r>
                        <a:rPr lang="en-US"/>
                        <a:t>Shifted to desktop-based system deployment</a:t>
                      </a:r>
                    </a:p>
                  </a:txBody>
                  <a:tcPr anchor="ctr"/>
                </a:tc>
                <a:extLst>
                  <a:ext uri="{0D108BD9-81ED-4DB2-BD59-A6C34878D82A}">
                    <a16:rowId xmlns:a16="http://schemas.microsoft.com/office/drawing/2014/main" val="3049190214"/>
                  </a:ext>
                </a:extLst>
              </a:tr>
              <a:tr h="370840">
                <a:tc>
                  <a:txBody>
                    <a:bodyPr/>
                    <a:lstStyle/>
                    <a:p>
                      <a:pPr>
                        <a:buNone/>
                      </a:pPr>
                      <a:r>
                        <a:rPr lang="en-US"/>
                        <a:t>Bright warehouse environment affecting visibility</a:t>
                      </a:r>
                    </a:p>
                  </a:txBody>
                  <a:tcPr anchor="ctr"/>
                </a:tc>
                <a:tc>
                  <a:txBody>
                    <a:bodyPr/>
                    <a:lstStyle/>
                    <a:p>
                      <a:pPr>
                        <a:buNone/>
                      </a:pPr>
                      <a:r>
                        <a:rPr lang="en-US" dirty="0"/>
                        <a:t>Applied high-contrast UI for better readability</a:t>
                      </a:r>
                    </a:p>
                  </a:txBody>
                  <a:tcPr anchor="ctr"/>
                </a:tc>
                <a:extLst>
                  <a:ext uri="{0D108BD9-81ED-4DB2-BD59-A6C34878D82A}">
                    <a16:rowId xmlns:a16="http://schemas.microsoft.com/office/drawing/2014/main" val="3614983783"/>
                  </a:ext>
                </a:extLst>
              </a:tr>
            </a:tbl>
          </a:graphicData>
        </a:graphic>
      </p:graphicFrame>
    </p:spTree>
    <p:extLst>
      <p:ext uri="{BB962C8B-B14F-4D97-AF65-F5344CB8AC3E}">
        <p14:creationId xmlns:p14="http://schemas.microsoft.com/office/powerpoint/2010/main" val="1006005818"/>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System Features</a:t>
            </a:r>
          </a:p>
        </p:txBody>
      </p:sp>
      <p:graphicFrame>
        <p:nvGraphicFramePr>
          <p:cNvPr id="4" name="Table 3">
            <a:extLst>
              <a:ext uri="{FF2B5EF4-FFF2-40B4-BE49-F238E27FC236}">
                <a16:creationId xmlns:a16="http://schemas.microsoft.com/office/drawing/2014/main" id="{2AB048A8-603E-3CE7-C28A-07A48357F3C7}"/>
              </a:ext>
            </a:extLst>
          </p:cNvPr>
          <p:cNvGraphicFramePr>
            <a:graphicFrameLocks noGrp="1"/>
          </p:cNvGraphicFramePr>
          <p:nvPr>
            <p:extLst>
              <p:ext uri="{D42A27DB-BD31-4B8C-83A1-F6EECF244321}">
                <p14:modId xmlns:p14="http://schemas.microsoft.com/office/powerpoint/2010/main" val="379419173"/>
              </p:ext>
            </p:extLst>
          </p:nvPr>
        </p:nvGraphicFramePr>
        <p:xfrm>
          <a:off x="1270815" y="1396566"/>
          <a:ext cx="9971212" cy="4779481"/>
        </p:xfrm>
        <a:graphic>
          <a:graphicData uri="http://schemas.openxmlformats.org/drawingml/2006/table">
            <a:tbl>
              <a:tblPr firstRow="1" bandRow="1">
                <a:tableStyleId>{5940675A-B579-460E-94D1-54222C63F5DA}</a:tableStyleId>
              </a:tblPr>
              <a:tblGrid>
                <a:gridCol w="2991088">
                  <a:extLst>
                    <a:ext uri="{9D8B030D-6E8A-4147-A177-3AD203B41FA5}">
                      <a16:colId xmlns:a16="http://schemas.microsoft.com/office/drawing/2014/main" val="2973197974"/>
                    </a:ext>
                  </a:extLst>
                </a:gridCol>
                <a:gridCol w="4466204">
                  <a:extLst>
                    <a:ext uri="{9D8B030D-6E8A-4147-A177-3AD203B41FA5}">
                      <a16:colId xmlns:a16="http://schemas.microsoft.com/office/drawing/2014/main" val="211944209"/>
                    </a:ext>
                  </a:extLst>
                </a:gridCol>
                <a:gridCol w="2513920">
                  <a:extLst>
                    <a:ext uri="{9D8B030D-6E8A-4147-A177-3AD203B41FA5}">
                      <a16:colId xmlns:a16="http://schemas.microsoft.com/office/drawing/2014/main" val="2122742016"/>
                    </a:ext>
                  </a:extLst>
                </a:gridCol>
              </a:tblGrid>
              <a:tr h="722073">
                <a:tc>
                  <a:txBody>
                    <a:bodyPr/>
                    <a:lstStyle/>
                    <a:p>
                      <a:pPr algn="ctr"/>
                      <a:r>
                        <a:rPr lang="en-PH" dirty="0">
                          <a:solidFill>
                            <a:schemeClr val="bg1"/>
                          </a:solidFill>
                          <a:latin typeface="Arial" panose="020B0604020202020204" pitchFamily="34" charset="0"/>
                          <a:cs typeface="Arial" panose="020B0604020202020204" pitchFamily="34" charset="0"/>
                        </a:rPr>
                        <a:t>Module</a:t>
                      </a:r>
                    </a:p>
                  </a:txBody>
                  <a:tcPr anchor="ctr">
                    <a:solidFill>
                      <a:srgbClr val="7E0000"/>
                    </a:solidFill>
                  </a:tcPr>
                </a:tc>
                <a:tc>
                  <a:txBody>
                    <a:bodyPr/>
                    <a:lstStyle/>
                    <a:p>
                      <a:pPr algn="ctr"/>
                      <a:r>
                        <a:rPr lang="en-PH" dirty="0">
                          <a:solidFill>
                            <a:schemeClr val="bg1"/>
                          </a:solidFill>
                          <a:latin typeface="Arial" panose="020B0604020202020204" pitchFamily="34" charset="0"/>
                          <a:cs typeface="Arial" panose="020B0604020202020204" pitchFamily="34" charset="0"/>
                        </a:rPr>
                        <a:t>Description</a:t>
                      </a:r>
                    </a:p>
                  </a:txBody>
                  <a:tcPr anchor="ctr">
                    <a:solidFill>
                      <a:srgbClr val="7E0000"/>
                    </a:solidFill>
                  </a:tcPr>
                </a:tc>
                <a:tc>
                  <a:txBody>
                    <a:bodyPr/>
                    <a:lstStyle/>
                    <a:p>
                      <a:pPr algn="ctr"/>
                      <a:r>
                        <a:rPr lang="en-PH" dirty="0">
                          <a:solidFill>
                            <a:schemeClr val="bg1"/>
                          </a:solidFill>
                          <a:latin typeface="Arial" panose="020B0604020202020204" pitchFamily="34" charset="0"/>
                          <a:cs typeface="Arial" panose="020B0604020202020204" pitchFamily="34" charset="0"/>
                        </a:rPr>
                        <a:t>Intended Users per Module</a:t>
                      </a:r>
                    </a:p>
                  </a:txBody>
                  <a:tcPr anchor="ctr">
                    <a:solidFill>
                      <a:srgbClr val="7E0000"/>
                    </a:solidFill>
                  </a:tcPr>
                </a:tc>
                <a:extLst>
                  <a:ext uri="{0D108BD9-81ED-4DB2-BD59-A6C34878D82A}">
                    <a16:rowId xmlns:a16="http://schemas.microsoft.com/office/drawing/2014/main" val="38945547"/>
                  </a:ext>
                </a:extLst>
              </a:tr>
              <a:tr h="722073">
                <a:tc>
                  <a:txBody>
                    <a:bodyPr/>
                    <a:lstStyle/>
                    <a:p>
                      <a:r>
                        <a:rPr lang="en-PH" dirty="0">
                          <a:latin typeface="Arial" panose="020B0604020202020204" pitchFamily="34" charset="0"/>
                          <a:cs typeface="Arial" panose="020B0604020202020204" pitchFamily="34" charset="0"/>
                        </a:rPr>
                        <a:t>User Authentication</a:t>
                      </a:r>
                    </a:p>
                  </a:txBody>
                  <a:tcPr/>
                </a:tc>
                <a:tc>
                  <a:txBody>
                    <a:bodyPr/>
                    <a:lstStyle/>
                    <a:p>
                      <a:r>
                        <a:rPr lang="en-US" sz="1800" b="0" i="0" u="none" strike="noStrike" kern="1200" dirty="0">
                          <a:solidFill>
                            <a:schemeClr val="tx1"/>
                          </a:solidFill>
                          <a:effectLst/>
                          <a:latin typeface="+mn-lt"/>
                          <a:ea typeface="+mn-ea"/>
                          <a:cs typeface="+mn-cs"/>
                        </a:rPr>
                        <a:t>Authenticates users and allows them to access the system.</a:t>
                      </a:r>
                      <a:endParaRPr lang="en-PH" dirty="0">
                        <a:latin typeface="Arial" panose="020B0604020202020204" pitchFamily="34" charset="0"/>
                        <a:cs typeface="Arial" panose="020B0604020202020204" pitchFamily="34" charset="0"/>
                      </a:endParaRPr>
                    </a:p>
                  </a:txBody>
                  <a:tcPr/>
                </a:tc>
                <a:tc>
                  <a:txBody>
                    <a:bodyPr/>
                    <a:lstStyle/>
                    <a:p>
                      <a:r>
                        <a:rPr lang="en-PH" dirty="0">
                          <a:latin typeface="Arial" panose="020B0604020202020204" pitchFamily="34" charset="0"/>
                          <a:cs typeface="Arial" panose="020B0604020202020204" pitchFamily="34" charset="0"/>
                        </a:rPr>
                        <a:t>All Authenticated Users</a:t>
                      </a:r>
                    </a:p>
                  </a:txBody>
                  <a:tcPr/>
                </a:tc>
                <a:extLst>
                  <a:ext uri="{0D108BD9-81ED-4DB2-BD59-A6C34878D82A}">
                    <a16:rowId xmlns:a16="http://schemas.microsoft.com/office/drawing/2014/main" val="886891160"/>
                  </a:ext>
                </a:extLst>
              </a:tr>
              <a:tr h="105752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PH"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Inventory Management</a:t>
                      </a:r>
                    </a:p>
                  </a:txBody>
                  <a:tcPr/>
                </a:tc>
                <a:tc>
                  <a:txBody>
                    <a:bodyPr/>
                    <a:lstStyle/>
                    <a:p>
                      <a:r>
                        <a:rPr lang="en-US" sz="1800" b="0" i="0" u="none" strike="noStrike" kern="1200" dirty="0">
                          <a:solidFill>
                            <a:schemeClr val="tx1"/>
                          </a:solidFill>
                          <a:effectLst/>
                          <a:latin typeface="+mn-lt"/>
                          <a:ea typeface="+mn-ea"/>
                          <a:cs typeface="+mn-cs"/>
                        </a:rPr>
                        <a:t>handles stock management through sub-modules that notify of stock out, allow the user to search and edit the stock levels.</a:t>
                      </a:r>
                      <a:endParaRPr lang="en-PH" dirty="0">
                        <a:latin typeface="Arial" panose="020B0604020202020204" pitchFamily="34" charset="0"/>
                        <a:cs typeface="Arial" panose="020B0604020202020204" pitchFamily="34" charset="0"/>
                      </a:endParaRPr>
                    </a:p>
                  </a:txBody>
                  <a:tcPr/>
                </a:tc>
                <a:tc>
                  <a:txBody>
                    <a:bodyPr/>
                    <a:lstStyle/>
                    <a:p>
                      <a:r>
                        <a:rPr lang="en-PH" dirty="0">
                          <a:latin typeface="Arial" panose="020B0604020202020204" pitchFamily="34" charset="0"/>
                          <a:cs typeface="Arial" panose="020B0604020202020204" pitchFamily="34" charset="0"/>
                        </a:rPr>
                        <a:t>Owner &amp; Secretary (Full Access), Employee (View Only)</a:t>
                      </a:r>
                    </a:p>
                  </a:txBody>
                  <a:tcPr/>
                </a:tc>
                <a:extLst>
                  <a:ext uri="{0D108BD9-81ED-4DB2-BD59-A6C34878D82A}">
                    <a16:rowId xmlns:a16="http://schemas.microsoft.com/office/drawing/2014/main" val="3049190214"/>
                  </a:ext>
                </a:extLst>
              </a:tr>
              <a:tr h="93682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PH"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Point of Sale</a:t>
                      </a:r>
                    </a:p>
                  </a:txBody>
                  <a:tcPr/>
                </a:tc>
                <a:tc>
                  <a:txBody>
                    <a:bodyPr/>
                    <a:lstStyle/>
                    <a:p>
                      <a:pPr rtl="0"/>
                      <a:r>
                        <a:rPr lang="en-US" sz="1800" b="0" i="0" u="none" strike="noStrike" kern="1200" dirty="0">
                          <a:solidFill>
                            <a:schemeClr val="tx1"/>
                          </a:solidFill>
                          <a:effectLst/>
                          <a:latin typeface="+mn-lt"/>
                          <a:ea typeface="+mn-ea"/>
                          <a:cs typeface="+mn-cs"/>
                        </a:rPr>
                        <a:t>Handles transactions, which includes payments, digital receipts and refunds.</a:t>
                      </a:r>
                      <a:endParaRPr lang="en-US" b="0" dirty="0">
                        <a:effectLst/>
                      </a:endParaRPr>
                    </a:p>
                  </a:txBody>
                  <a:tcPr/>
                </a:tc>
                <a:tc>
                  <a:txBody>
                    <a:bodyPr/>
                    <a:lstStyle/>
                    <a:p>
                      <a:r>
                        <a:rPr lang="en-PH" dirty="0">
                          <a:latin typeface="Arial" panose="020B0604020202020204" pitchFamily="34" charset="0"/>
                          <a:cs typeface="Arial" panose="020B0604020202020204" pitchFamily="34" charset="0"/>
                        </a:rPr>
                        <a:t>All Authenticated Users</a:t>
                      </a:r>
                    </a:p>
                  </a:txBody>
                  <a:tcPr/>
                </a:tc>
                <a:extLst>
                  <a:ext uri="{0D108BD9-81ED-4DB2-BD59-A6C34878D82A}">
                    <a16:rowId xmlns:a16="http://schemas.microsoft.com/office/drawing/2014/main" val="3614983783"/>
                  </a:ext>
                </a:extLst>
              </a:tr>
              <a:tr h="134099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PH"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Predictive Artificial Intelligence</a:t>
                      </a:r>
                    </a:p>
                  </a:txBody>
                  <a:tcPr/>
                </a:tc>
                <a:tc>
                  <a:txBody>
                    <a:bodyPr/>
                    <a:lstStyle/>
                    <a:p>
                      <a:pPr rtl="0"/>
                      <a:r>
                        <a:rPr lang="en-US" sz="1800" b="0" i="0" u="none" strike="noStrike" kern="1200" dirty="0">
                          <a:solidFill>
                            <a:schemeClr val="tx1"/>
                          </a:solidFill>
                          <a:effectLst/>
                          <a:latin typeface="+mn-lt"/>
                          <a:ea typeface="+mn-ea"/>
                          <a:cs typeface="+mn-cs"/>
                        </a:rPr>
                        <a:t>Offers business intelligence for sales forecasting, including seasonal stock recommendations, revenue growth forecasts, and price recommendations. </a:t>
                      </a:r>
                      <a:endParaRPr lang="en-US" b="0" dirty="0">
                        <a:effectLst/>
                      </a:endParaRPr>
                    </a:p>
                  </a:txBody>
                  <a:tcPr/>
                </a:tc>
                <a:tc>
                  <a:txBody>
                    <a:bodyPr/>
                    <a:lstStyle/>
                    <a:p>
                      <a:r>
                        <a:rPr lang="en-PH" dirty="0">
                          <a:latin typeface="Arial" panose="020B0604020202020204" pitchFamily="34" charset="0"/>
                          <a:cs typeface="Arial" panose="020B0604020202020204" pitchFamily="34" charset="0"/>
                        </a:rPr>
                        <a:t>Owner &amp; Secretary Only </a:t>
                      </a:r>
                    </a:p>
                  </a:txBody>
                  <a:tcPr/>
                </a:tc>
                <a:extLst>
                  <a:ext uri="{0D108BD9-81ED-4DB2-BD59-A6C34878D82A}">
                    <a16:rowId xmlns:a16="http://schemas.microsoft.com/office/drawing/2014/main" val="1995298321"/>
                  </a:ext>
                </a:extLst>
              </a:tr>
            </a:tbl>
          </a:graphicData>
        </a:graphic>
      </p:graphicFrame>
    </p:spTree>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C0767-2576-5ABA-F666-6AA57E3AD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75FB2-801D-BC37-4FA2-10679FE44C59}"/>
              </a:ext>
            </a:extLst>
          </p:cNvPr>
          <p:cNvSpPr>
            <a:spLocks noGrp="1"/>
          </p:cNvSpPr>
          <p:nvPr>
            <p:ph type="title"/>
          </p:nvPr>
        </p:nvSpPr>
        <p:spPr/>
        <p:txBody>
          <a:bodyPr/>
          <a:lstStyle/>
          <a:p>
            <a:r>
              <a:rPr lang="en-PH" dirty="0"/>
              <a:t>AI / Data Analytics Utilization</a:t>
            </a:r>
            <a:endParaRPr dirty="0"/>
          </a:p>
        </p:txBody>
      </p:sp>
      <p:sp>
        <p:nvSpPr>
          <p:cNvPr id="3" name="Content Placeholder 2">
            <a:extLst>
              <a:ext uri="{FF2B5EF4-FFF2-40B4-BE49-F238E27FC236}">
                <a16:creationId xmlns:a16="http://schemas.microsoft.com/office/drawing/2014/main" id="{37A51B4F-1834-9F54-74FE-B23E68FAC27B}"/>
              </a:ext>
            </a:extLst>
          </p:cNvPr>
          <p:cNvSpPr txBox="1">
            <a:spLocks/>
          </p:cNvSpPr>
          <p:nvPr/>
        </p:nvSpPr>
        <p:spPr>
          <a:xfrm>
            <a:off x="609600" y="1600201"/>
            <a:ext cx="109728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endParaRPr lang="en-PH" dirty="0"/>
          </a:p>
        </p:txBody>
      </p:sp>
      <p:sp>
        <p:nvSpPr>
          <p:cNvPr id="5" name="Content Placeholder 2">
            <a:extLst>
              <a:ext uri="{FF2B5EF4-FFF2-40B4-BE49-F238E27FC236}">
                <a16:creationId xmlns:a16="http://schemas.microsoft.com/office/drawing/2014/main" id="{D1C544FB-7912-F165-A96E-C5575E37D0DC}"/>
              </a:ext>
            </a:extLst>
          </p:cNvPr>
          <p:cNvSpPr txBox="1">
            <a:spLocks/>
          </p:cNvSpPr>
          <p:nvPr/>
        </p:nvSpPr>
        <p:spPr>
          <a:xfrm>
            <a:off x="1403684" y="1525922"/>
            <a:ext cx="9954127" cy="4525963"/>
          </a:xfrm>
          <a:prstGeom prst="rect">
            <a:avLst/>
          </a:prstGeom>
        </p:spPr>
        <p:txBody>
          <a:bodyPr vert="horz" lIns="91440" tIns="45720" rIns="91440" bIns="45720" rtlCol="0">
            <a:normAutofit fontScale="92500"/>
          </a:bodyPr>
          <a:lstStyle>
            <a:lvl1pPr marL="342900" indent="-342900" algn="l" defTabSz="457200" rtl="0" eaLnBrk="1" latinLnBrk="0" hangingPunct="1">
              <a:spcBef>
                <a:spcPct val="20000"/>
              </a:spcBef>
              <a:buFont typeface="Arial"/>
              <a:buChar char="•"/>
              <a:defRPr sz="3200" kern="1200">
                <a:solidFill>
                  <a:schemeClr val="tx1"/>
                </a:solidFill>
                <a:latin typeface="Arial" panose="020B0604020202020204" pitchFamily="34" charset="0"/>
                <a:ea typeface="+mn-ea"/>
                <a:cs typeface="Arial" panose="020B0604020202020204" pitchFamily="34" charset="0"/>
              </a:defRPr>
            </a:lvl1pPr>
            <a:lvl2pPr marL="742950" indent="-285750" algn="l" defTabSz="457200" rtl="0" eaLnBrk="1" latinLnBrk="0" hangingPunct="1">
              <a:spcBef>
                <a:spcPct val="20000"/>
              </a:spcBef>
              <a:buFont typeface="Arial"/>
              <a:buChar char="–"/>
              <a:defRPr sz="2800" kern="1200">
                <a:solidFill>
                  <a:schemeClr val="tx1"/>
                </a:solidFill>
                <a:latin typeface="Arial" panose="020B0604020202020204" pitchFamily="34" charset="0"/>
                <a:ea typeface="+mn-ea"/>
                <a:cs typeface="Arial" panose="020B0604020202020204" pitchFamily="34" charset="0"/>
              </a:defRPr>
            </a:lvl2pPr>
            <a:lvl3pPr marL="1143000" indent="-228600" algn="l" defTabSz="457200" rtl="0" eaLnBrk="1" latinLnBrk="0" hangingPunct="1">
              <a:spcBef>
                <a:spcPct val="20000"/>
              </a:spcBef>
              <a:buFont typeface="Arial"/>
              <a:buChar char="•"/>
              <a:defRPr sz="2400" kern="1200">
                <a:solidFill>
                  <a:schemeClr val="tx1"/>
                </a:solidFill>
                <a:latin typeface="Arial" panose="020B0604020202020204" pitchFamily="34" charset="0"/>
                <a:ea typeface="+mn-ea"/>
                <a:cs typeface="Arial" panose="020B0604020202020204" pitchFamily="34" charset="0"/>
              </a:defRPr>
            </a:lvl3pPr>
            <a:lvl4pPr marL="16002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4pPr>
            <a:lvl5pPr marL="2057400" indent="-228600" algn="l" defTabSz="457200" rtl="0" eaLnBrk="1" latinLnBrk="0" hangingPunct="1">
              <a:spcBef>
                <a:spcPct val="20000"/>
              </a:spcBef>
              <a:buFont typeface="Arial"/>
              <a:buChar char="»"/>
              <a:defRPr sz="2000" kern="1200">
                <a:solidFill>
                  <a:schemeClr val="tx1"/>
                </a:solidFill>
                <a:latin typeface="Arial" panose="020B0604020202020204" pitchFamily="34" charset="0"/>
                <a:ea typeface="+mn-ea"/>
                <a:cs typeface="Arial" panose="020B0604020202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2400" b="1" dirty="0"/>
              <a:t>Predictive Artificial Intelligence</a:t>
            </a:r>
          </a:p>
          <a:p>
            <a:pPr marL="0" indent="0">
              <a:lnSpc>
                <a:spcPct val="150000"/>
              </a:lnSpc>
              <a:buNone/>
            </a:pPr>
            <a:r>
              <a:rPr lang="en-US" sz="2400" b="1" dirty="0"/>
              <a:t>	</a:t>
            </a:r>
            <a:r>
              <a:rPr lang="en-US" sz="2400" i="1" dirty="0"/>
              <a:t>Auto-</a:t>
            </a:r>
            <a:r>
              <a:rPr lang="en-US" sz="2400" i="1" dirty="0" err="1"/>
              <a:t>ComPAnIon</a:t>
            </a:r>
            <a:r>
              <a:rPr lang="en-US" sz="2400" dirty="0"/>
              <a:t> leverages AI-driven analytics to transform raw business data into actionable insights for better decision-making. It supports sales forecasting, seasonal stock recommendations, revenue growth projections, and pricing insights, enabling the business to anticipate demand rather than react to it. By analyzing historical sales patterns and operational trends, the system helps optimize inventory levels, improve profitability, and reduce stock inefficiencies. This ensures that </a:t>
            </a:r>
            <a:r>
              <a:rPr lang="en-US" sz="2400" dirty="0" err="1"/>
              <a:t>Santosidad</a:t>
            </a:r>
            <a:r>
              <a:rPr lang="en-US" sz="2400" dirty="0"/>
              <a:t> Auto Supply can make faster, smarter, and data-driven business decisions with confidence.</a:t>
            </a:r>
            <a:endParaRPr lang="en-US" sz="2400" dirty="0">
              <a:solidFill>
                <a:srgbClr val="000000"/>
              </a:solidFill>
              <a:latin typeface="Calibri" panose="020F0502020204030204" pitchFamily="34" charset="0"/>
            </a:endParaRPr>
          </a:p>
          <a:p>
            <a:pPr marL="0" marR="0" indent="0" algn="l" rtl="0" eaLnBrk="1" fontAlgn="auto" latinLnBrk="0" hangingPunct="1">
              <a:lnSpc>
                <a:spcPct val="150000"/>
              </a:lnSpc>
              <a:buNone/>
            </a:pPr>
            <a:endParaRPr lang="en-US" sz="2400" b="0" i="0" u="none" strike="noStrike" kern="1200" dirty="0">
              <a:solidFill>
                <a:srgbClr val="000000"/>
              </a:solidFill>
              <a:effectLst/>
              <a:latin typeface="Calibri" panose="020F0502020204030204" pitchFamily="34" charset="0"/>
            </a:endParaRPr>
          </a:p>
          <a:p>
            <a:pPr marL="0" marR="0" indent="0" algn="l" rtl="0" eaLnBrk="1" fontAlgn="auto" latinLnBrk="0" hangingPunct="1">
              <a:buNone/>
            </a:pPr>
            <a:endParaRPr lang="en-US" sz="2800" dirty="0">
              <a:solidFill>
                <a:srgbClr val="000000"/>
              </a:solidFill>
              <a:latin typeface="Calibri" panose="020F0502020204030204" pitchFamily="34" charset="0"/>
            </a:endParaRPr>
          </a:p>
          <a:p>
            <a:pPr marL="0" marR="0" indent="0" algn="l" rtl="0" eaLnBrk="1" fontAlgn="auto" latinLnBrk="0" hangingPunct="1">
              <a:buNone/>
            </a:pPr>
            <a:endParaRPr lang="en-PH" sz="2800" b="0" i="0" u="none" strike="noStrike" dirty="0">
              <a:effectLst/>
              <a:latin typeface="Arial" panose="020B0604020202020204" pitchFamily="34" charset="0"/>
            </a:endParaRPr>
          </a:p>
          <a:p>
            <a:pPr marL="0" indent="0">
              <a:buNone/>
            </a:pPr>
            <a:endParaRPr lang="en-PH" sz="2400" dirty="0"/>
          </a:p>
        </p:txBody>
      </p:sp>
    </p:spTree>
    <p:extLst>
      <p:ext uri="{BB962C8B-B14F-4D97-AF65-F5344CB8AC3E}">
        <p14:creationId xmlns:p14="http://schemas.microsoft.com/office/powerpoint/2010/main" val="1554545381"/>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User Interface</a:t>
            </a:r>
          </a:p>
        </p:txBody>
      </p:sp>
      <p:pic>
        <p:nvPicPr>
          <p:cNvPr id="13" name="Picture 12">
            <a:extLst>
              <a:ext uri="{FF2B5EF4-FFF2-40B4-BE49-F238E27FC236}">
                <a16:creationId xmlns:a16="http://schemas.microsoft.com/office/drawing/2014/main" id="{7B4D8EC2-33E8-ACF3-7AE5-791D834E0D1F}"/>
              </a:ext>
            </a:extLst>
          </p:cNvPr>
          <p:cNvPicPr>
            <a:picLocks noChangeAspect="1"/>
          </p:cNvPicPr>
          <p:nvPr/>
        </p:nvPicPr>
        <p:blipFill>
          <a:blip r:embed="rId3"/>
          <a:stretch>
            <a:fillRect/>
          </a:stretch>
        </p:blipFill>
        <p:spPr>
          <a:xfrm>
            <a:off x="282420" y="1296285"/>
            <a:ext cx="4649861" cy="2608536"/>
          </a:xfrm>
          <a:prstGeom prst="rect">
            <a:avLst/>
          </a:prstGeom>
        </p:spPr>
      </p:pic>
      <p:pic>
        <p:nvPicPr>
          <p:cNvPr id="15" name="Picture 14">
            <a:extLst>
              <a:ext uri="{FF2B5EF4-FFF2-40B4-BE49-F238E27FC236}">
                <a16:creationId xmlns:a16="http://schemas.microsoft.com/office/drawing/2014/main" id="{F1CAD0DC-D50B-D5D0-4227-15CC10E185EB}"/>
              </a:ext>
            </a:extLst>
          </p:cNvPr>
          <p:cNvPicPr>
            <a:picLocks noChangeAspect="1"/>
          </p:cNvPicPr>
          <p:nvPr/>
        </p:nvPicPr>
        <p:blipFill>
          <a:blip r:embed="rId4"/>
          <a:stretch>
            <a:fillRect/>
          </a:stretch>
        </p:blipFill>
        <p:spPr>
          <a:xfrm>
            <a:off x="3589417" y="4025070"/>
            <a:ext cx="4550536" cy="2558292"/>
          </a:xfrm>
          <a:prstGeom prst="rect">
            <a:avLst/>
          </a:prstGeom>
        </p:spPr>
      </p:pic>
      <p:pic>
        <p:nvPicPr>
          <p:cNvPr id="17" name="Picture 16">
            <a:extLst>
              <a:ext uri="{FF2B5EF4-FFF2-40B4-BE49-F238E27FC236}">
                <a16:creationId xmlns:a16="http://schemas.microsoft.com/office/drawing/2014/main" id="{E33379DD-383B-1689-8AD0-E79CAF4D8751}"/>
              </a:ext>
            </a:extLst>
          </p:cNvPr>
          <p:cNvPicPr>
            <a:picLocks noChangeAspect="1"/>
          </p:cNvPicPr>
          <p:nvPr/>
        </p:nvPicPr>
        <p:blipFill>
          <a:blip r:embed="rId5"/>
          <a:stretch>
            <a:fillRect/>
          </a:stretch>
        </p:blipFill>
        <p:spPr>
          <a:xfrm>
            <a:off x="5021471" y="1303171"/>
            <a:ext cx="4733284" cy="2601650"/>
          </a:xfrm>
          <a:prstGeom prst="rect">
            <a:avLst/>
          </a:prstGeom>
        </p:spPr>
      </p:pic>
      <p:pic>
        <p:nvPicPr>
          <p:cNvPr id="19" name="Picture 18">
            <a:extLst>
              <a:ext uri="{FF2B5EF4-FFF2-40B4-BE49-F238E27FC236}">
                <a16:creationId xmlns:a16="http://schemas.microsoft.com/office/drawing/2014/main" id="{8DC15CD1-BF6D-C74D-2034-B684792879A6}"/>
              </a:ext>
            </a:extLst>
          </p:cNvPr>
          <p:cNvPicPr>
            <a:picLocks noChangeAspect="1"/>
          </p:cNvPicPr>
          <p:nvPr/>
        </p:nvPicPr>
        <p:blipFill>
          <a:blip r:embed="rId6"/>
          <a:srcRect l="2" r="49135"/>
          <a:stretch>
            <a:fillRect/>
          </a:stretch>
        </p:blipFill>
        <p:spPr>
          <a:xfrm>
            <a:off x="10115739" y="1417638"/>
            <a:ext cx="1901001" cy="1473974"/>
          </a:xfrm>
          <a:prstGeom prst="rect">
            <a:avLst/>
          </a:prstGeom>
        </p:spPr>
      </p:pic>
      <p:pic>
        <p:nvPicPr>
          <p:cNvPr id="21" name="Picture 20">
            <a:extLst>
              <a:ext uri="{FF2B5EF4-FFF2-40B4-BE49-F238E27FC236}">
                <a16:creationId xmlns:a16="http://schemas.microsoft.com/office/drawing/2014/main" id="{6F0EFEEE-E731-BAE0-9D10-6DC0A2F5312E}"/>
              </a:ext>
            </a:extLst>
          </p:cNvPr>
          <p:cNvPicPr>
            <a:picLocks noChangeAspect="1"/>
          </p:cNvPicPr>
          <p:nvPr/>
        </p:nvPicPr>
        <p:blipFill>
          <a:blip r:embed="rId7"/>
          <a:stretch>
            <a:fillRect/>
          </a:stretch>
        </p:blipFill>
        <p:spPr>
          <a:xfrm>
            <a:off x="713573" y="4025070"/>
            <a:ext cx="2771871" cy="907074"/>
          </a:xfrm>
          <a:prstGeom prst="rect">
            <a:avLst/>
          </a:prstGeom>
        </p:spPr>
      </p:pic>
      <p:pic>
        <p:nvPicPr>
          <p:cNvPr id="23" name="Picture 22">
            <a:extLst>
              <a:ext uri="{FF2B5EF4-FFF2-40B4-BE49-F238E27FC236}">
                <a16:creationId xmlns:a16="http://schemas.microsoft.com/office/drawing/2014/main" id="{9550AAA8-F47D-9160-2068-37220F59BC36}"/>
              </a:ext>
            </a:extLst>
          </p:cNvPr>
          <p:cNvPicPr>
            <a:picLocks noChangeAspect="1"/>
          </p:cNvPicPr>
          <p:nvPr/>
        </p:nvPicPr>
        <p:blipFill>
          <a:blip r:embed="rId8"/>
          <a:stretch>
            <a:fillRect/>
          </a:stretch>
        </p:blipFill>
        <p:spPr>
          <a:xfrm>
            <a:off x="1011666" y="5045507"/>
            <a:ext cx="2473778" cy="928630"/>
          </a:xfrm>
          <a:prstGeom prst="rect">
            <a:avLst/>
          </a:prstGeom>
        </p:spPr>
      </p:pic>
      <p:pic>
        <p:nvPicPr>
          <p:cNvPr id="25" name="Picture 24">
            <a:extLst>
              <a:ext uri="{FF2B5EF4-FFF2-40B4-BE49-F238E27FC236}">
                <a16:creationId xmlns:a16="http://schemas.microsoft.com/office/drawing/2014/main" id="{504A49B4-FE33-77AF-7C04-D1B5A806E59B}"/>
              </a:ext>
            </a:extLst>
          </p:cNvPr>
          <p:cNvPicPr>
            <a:picLocks noChangeAspect="1"/>
          </p:cNvPicPr>
          <p:nvPr/>
        </p:nvPicPr>
        <p:blipFill>
          <a:blip r:embed="rId6"/>
          <a:srcRect l="53767"/>
          <a:stretch>
            <a:fillRect/>
          </a:stretch>
        </p:blipFill>
        <p:spPr>
          <a:xfrm>
            <a:off x="10115737" y="3038540"/>
            <a:ext cx="1901001" cy="1645845"/>
          </a:xfrm>
          <a:prstGeom prst="rect">
            <a:avLst/>
          </a:prstGeom>
        </p:spPr>
      </p:pic>
      <p:pic>
        <p:nvPicPr>
          <p:cNvPr id="27" name="Picture 26">
            <a:extLst>
              <a:ext uri="{FF2B5EF4-FFF2-40B4-BE49-F238E27FC236}">
                <a16:creationId xmlns:a16="http://schemas.microsoft.com/office/drawing/2014/main" id="{4A7F587B-83EC-33D2-B936-0D7282E812CB}"/>
              </a:ext>
            </a:extLst>
          </p:cNvPr>
          <p:cNvPicPr>
            <a:picLocks noChangeAspect="1"/>
          </p:cNvPicPr>
          <p:nvPr/>
        </p:nvPicPr>
        <p:blipFill>
          <a:blip r:embed="rId9"/>
          <a:stretch>
            <a:fillRect/>
          </a:stretch>
        </p:blipFill>
        <p:spPr>
          <a:xfrm>
            <a:off x="10013769" y="4684385"/>
            <a:ext cx="2002971" cy="2002971"/>
          </a:xfrm>
          <a:prstGeom prst="rect">
            <a:avLst/>
          </a:prstGeom>
        </p:spPr>
      </p:pic>
      <p:pic>
        <p:nvPicPr>
          <p:cNvPr id="29" name="Picture 28">
            <a:extLst>
              <a:ext uri="{FF2B5EF4-FFF2-40B4-BE49-F238E27FC236}">
                <a16:creationId xmlns:a16="http://schemas.microsoft.com/office/drawing/2014/main" id="{03F2E605-4016-70FF-23C7-676A5848FC90}"/>
              </a:ext>
            </a:extLst>
          </p:cNvPr>
          <p:cNvPicPr>
            <a:picLocks noChangeAspect="1"/>
          </p:cNvPicPr>
          <p:nvPr/>
        </p:nvPicPr>
        <p:blipFill>
          <a:blip r:embed="rId10"/>
          <a:stretch>
            <a:fillRect/>
          </a:stretch>
        </p:blipFill>
        <p:spPr>
          <a:xfrm>
            <a:off x="8280408" y="4189000"/>
            <a:ext cx="1784345" cy="2230431"/>
          </a:xfrm>
          <a:prstGeom prst="rect">
            <a:avLst/>
          </a:prstGeom>
        </p:spPr>
      </p:pic>
    </p:spTree>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Testing</a:t>
            </a:r>
          </a:p>
        </p:txBody>
      </p:sp>
      <p:graphicFrame>
        <p:nvGraphicFramePr>
          <p:cNvPr id="5" name="Table 4">
            <a:extLst>
              <a:ext uri="{FF2B5EF4-FFF2-40B4-BE49-F238E27FC236}">
                <a16:creationId xmlns:a16="http://schemas.microsoft.com/office/drawing/2014/main" id="{597CE7D2-7D96-F3E8-7896-300456E6E305}"/>
              </a:ext>
            </a:extLst>
          </p:cNvPr>
          <p:cNvGraphicFramePr>
            <a:graphicFrameLocks noGrp="1"/>
          </p:cNvGraphicFramePr>
          <p:nvPr>
            <p:extLst>
              <p:ext uri="{D42A27DB-BD31-4B8C-83A1-F6EECF244321}">
                <p14:modId xmlns:p14="http://schemas.microsoft.com/office/powerpoint/2010/main" val="1824195455"/>
              </p:ext>
            </p:extLst>
          </p:nvPr>
        </p:nvGraphicFramePr>
        <p:xfrm>
          <a:off x="1104382" y="1545975"/>
          <a:ext cx="10239909" cy="4023360"/>
        </p:xfrm>
        <a:graphic>
          <a:graphicData uri="http://schemas.openxmlformats.org/drawingml/2006/table">
            <a:tbl>
              <a:tblPr firstRow="1" bandRow="1">
                <a:tableStyleId>{5940675A-B579-460E-94D1-54222C63F5DA}</a:tableStyleId>
              </a:tblPr>
              <a:tblGrid>
                <a:gridCol w="2633429">
                  <a:extLst>
                    <a:ext uri="{9D8B030D-6E8A-4147-A177-3AD203B41FA5}">
                      <a16:colId xmlns:a16="http://schemas.microsoft.com/office/drawing/2014/main" val="2973197974"/>
                    </a:ext>
                  </a:extLst>
                </a:gridCol>
                <a:gridCol w="5459182">
                  <a:extLst>
                    <a:ext uri="{9D8B030D-6E8A-4147-A177-3AD203B41FA5}">
                      <a16:colId xmlns:a16="http://schemas.microsoft.com/office/drawing/2014/main" val="211944209"/>
                    </a:ext>
                  </a:extLst>
                </a:gridCol>
                <a:gridCol w="2147298">
                  <a:extLst>
                    <a:ext uri="{9D8B030D-6E8A-4147-A177-3AD203B41FA5}">
                      <a16:colId xmlns:a16="http://schemas.microsoft.com/office/drawing/2014/main" val="640626244"/>
                    </a:ext>
                  </a:extLst>
                </a:gridCol>
              </a:tblGrid>
              <a:tr h="187860">
                <a:tc>
                  <a:txBody>
                    <a:bodyPr/>
                    <a:lstStyle/>
                    <a:p>
                      <a:pPr algn="ctr"/>
                      <a:r>
                        <a:rPr lang="en-PH" sz="1800" dirty="0">
                          <a:solidFill>
                            <a:schemeClr val="bg1"/>
                          </a:solidFill>
                          <a:latin typeface="Arial" panose="020B0604020202020204" pitchFamily="34" charset="0"/>
                          <a:cs typeface="Arial" panose="020B0604020202020204" pitchFamily="34" charset="0"/>
                        </a:rPr>
                        <a:t>Key Activity</a:t>
                      </a:r>
                    </a:p>
                  </a:txBody>
                  <a:tcPr anchor="ctr">
                    <a:solidFill>
                      <a:srgbClr val="7E0000"/>
                    </a:solidFill>
                  </a:tcPr>
                </a:tc>
                <a:tc>
                  <a:txBody>
                    <a:bodyPr/>
                    <a:lstStyle/>
                    <a:p>
                      <a:pPr algn="ctr"/>
                      <a:r>
                        <a:rPr lang="en-PH" sz="1800" dirty="0">
                          <a:solidFill>
                            <a:schemeClr val="bg1"/>
                          </a:solidFill>
                          <a:latin typeface="Arial" panose="020B0604020202020204" pitchFamily="34" charset="0"/>
                          <a:cs typeface="Arial" panose="020B0604020202020204" pitchFamily="34" charset="0"/>
                        </a:rPr>
                        <a:t>Results</a:t>
                      </a:r>
                    </a:p>
                  </a:txBody>
                  <a:tcPr anchor="ctr">
                    <a:solidFill>
                      <a:srgbClr val="7E0000"/>
                    </a:solidFill>
                  </a:tcPr>
                </a:tc>
                <a:tc>
                  <a:txBody>
                    <a:bodyPr/>
                    <a:lstStyle/>
                    <a:p>
                      <a:pPr algn="ctr"/>
                      <a:r>
                        <a:rPr lang="en-PH" sz="1800" dirty="0">
                          <a:solidFill>
                            <a:schemeClr val="bg1"/>
                          </a:solidFill>
                          <a:latin typeface="Arial" panose="020B0604020202020204" pitchFamily="34" charset="0"/>
                          <a:cs typeface="Arial" panose="020B0604020202020204" pitchFamily="34" charset="0"/>
                        </a:rPr>
                        <a:t>Status</a:t>
                      </a:r>
                    </a:p>
                  </a:txBody>
                  <a:tcPr anchor="ctr">
                    <a:solidFill>
                      <a:srgbClr val="7E0000"/>
                    </a:solidFill>
                  </a:tcPr>
                </a:tc>
                <a:extLst>
                  <a:ext uri="{0D108BD9-81ED-4DB2-BD59-A6C34878D82A}">
                    <a16:rowId xmlns:a16="http://schemas.microsoft.com/office/drawing/2014/main" val="38945547"/>
                  </a:ext>
                </a:extLst>
              </a:tr>
              <a:tr h="370840">
                <a:tc>
                  <a:txBody>
                    <a:bodyPr/>
                    <a:lstStyle/>
                    <a:p>
                      <a:r>
                        <a:rPr lang="en-PH" dirty="0">
                          <a:latin typeface="Arial" panose="020B0604020202020204" pitchFamily="34" charset="0"/>
                          <a:cs typeface="Arial" panose="020B0604020202020204" pitchFamily="34" charset="0"/>
                        </a:rPr>
                        <a:t>Unit Testing</a:t>
                      </a:r>
                    </a:p>
                  </a:txBody>
                  <a:tcPr/>
                </a:tc>
                <a:tc>
                  <a:txBody>
                    <a:bodyPr/>
                    <a:lstStyle/>
                    <a:p>
                      <a:pPr rtl="0"/>
                      <a:r>
                        <a:rPr lang="en-US" sz="1800" b="0" i="0" u="none" strike="noStrike" kern="1200" dirty="0">
                          <a:solidFill>
                            <a:schemeClr val="tx1"/>
                          </a:solidFill>
                          <a:effectLst/>
                          <a:latin typeface="+mn-lt"/>
                          <a:ea typeface="+mn-ea"/>
                          <a:cs typeface="+mn-cs"/>
                        </a:rPr>
                        <a:t>All modules were probed with invalid and incomplete data inputs and all returned with the expected error handling.</a:t>
                      </a:r>
                      <a:endParaRPr lang="en-US" b="0" dirty="0">
                        <a:effectLst/>
                      </a:endParaRPr>
                    </a:p>
                  </a:txBody>
                  <a:tcPr/>
                </a:tc>
                <a:tc>
                  <a:txBody>
                    <a:bodyPr/>
                    <a:lstStyle/>
                    <a:p>
                      <a:r>
                        <a:rPr lang="en-PH" dirty="0">
                          <a:latin typeface="Arial" panose="020B0604020202020204" pitchFamily="34" charset="0"/>
                          <a:cs typeface="Arial" panose="020B0604020202020204" pitchFamily="34" charset="0"/>
                        </a:rPr>
                        <a:t>Complete</a:t>
                      </a:r>
                    </a:p>
                  </a:txBody>
                  <a:tcPr/>
                </a:tc>
                <a:extLst>
                  <a:ext uri="{0D108BD9-81ED-4DB2-BD59-A6C34878D82A}">
                    <a16:rowId xmlns:a16="http://schemas.microsoft.com/office/drawing/2014/main" val="886891160"/>
                  </a:ext>
                </a:extLst>
              </a:tr>
              <a:tr h="370840">
                <a:tc>
                  <a:txBody>
                    <a:bodyPr/>
                    <a:lstStyle/>
                    <a:p>
                      <a:r>
                        <a:rPr lang="en-PH" dirty="0">
                          <a:latin typeface="Arial" panose="020B0604020202020204" pitchFamily="34" charset="0"/>
                          <a:cs typeface="Arial" panose="020B0604020202020204" pitchFamily="34" charset="0"/>
                        </a:rPr>
                        <a:t>Integration Testing</a:t>
                      </a:r>
                    </a:p>
                  </a:txBody>
                  <a:tcPr/>
                </a:tc>
                <a:tc>
                  <a:txBody>
                    <a:bodyPr/>
                    <a:lstStyle/>
                    <a:p>
                      <a:pPr rtl="0"/>
                      <a:r>
                        <a:rPr lang="en-US" sz="1800" b="0" i="0" u="none" strike="noStrike" kern="1200" dirty="0">
                          <a:solidFill>
                            <a:schemeClr val="tx1"/>
                          </a:solidFill>
                          <a:effectLst/>
                          <a:latin typeface="+mn-lt"/>
                          <a:ea typeface="+mn-ea"/>
                          <a:cs typeface="+mn-cs"/>
                        </a:rPr>
                        <a:t>Access to each individual module was proven to be role dependent and secure. </a:t>
                      </a:r>
                      <a:endParaRPr lang="en-US" b="0" dirty="0">
                        <a:effectLst/>
                      </a:endParaRPr>
                    </a:p>
                  </a:txBody>
                  <a:tcPr/>
                </a:tc>
                <a:tc>
                  <a:txBody>
                    <a:bodyPr/>
                    <a:lstStyle/>
                    <a:p>
                      <a:r>
                        <a:rPr lang="en-PH" dirty="0">
                          <a:latin typeface="Arial" panose="020B0604020202020204" pitchFamily="34" charset="0"/>
                          <a:cs typeface="Arial" panose="020B0604020202020204" pitchFamily="34" charset="0"/>
                        </a:rPr>
                        <a:t>Complete</a:t>
                      </a:r>
                    </a:p>
                  </a:txBody>
                  <a:tcPr/>
                </a:tc>
                <a:extLst>
                  <a:ext uri="{0D108BD9-81ED-4DB2-BD59-A6C34878D82A}">
                    <a16:rowId xmlns:a16="http://schemas.microsoft.com/office/drawing/2014/main" val="3049190214"/>
                  </a:ext>
                </a:extLst>
              </a:tr>
              <a:tr h="370840">
                <a:tc>
                  <a:txBody>
                    <a:bodyPr/>
                    <a:lstStyle/>
                    <a:p>
                      <a:r>
                        <a:rPr lang="en-PH" dirty="0">
                          <a:latin typeface="Arial" panose="020B0604020202020204" pitchFamily="34" charset="0"/>
                          <a:cs typeface="Arial" panose="020B0604020202020204" pitchFamily="34" charset="0"/>
                        </a:rPr>
                        <a:t>System Testing</a:t>
                      </a:r>
                    </a:p>
                  </a:txBody>
                  <a:tcPr/>
                </a:tc>
                <a:tc>
                  <a:txBody>
                    <a:bodyPr/>
                    <a:lstStyle/>
                    <a:p>
                      <a:pPr rtl="0"/>
                      <a:r>
                        <a:rPr lang="en-US" sz="1800" b="0" i="0" u="none" strike="noStrike" kern="1200" dirty="0">
                          <a:solidFill>
                            <a:schemeClr val="tx1"/>
                          </a:solidFill>
                          <a:effectLst/>
                          <a:latin typeface="+mn-lt"/>
                          <a:ea typeface="+mn-ea"/>
                          <a:cs typeface="+mn-cs"/>
                        </a:rPr>
                        <a:t>The backup and recovery capabilities were tested and showed that it was supported but lacks full operational readiness and verification.</a:t>
                      </a:r>
                      <a:endParaRPr lang="en-US" b="0" dirty="0">
                        <a:effectLst/>
                      </a:endParaRPr>
                    </a:p>
                  </a:txBody>
                  <a:tcPr/>
                </a:tc>
                <a:tc>
                  <a:txBody>
                    <a:bodyPr/>
                    <a:lstStyle/>
                    <a:p>
                      <a:r>
                        <a:rPr lang="en-PH" dirty="0">
                          <a:latin typeface="Arial" panose="020B0604020202020204" pitchFamily="34" charset="0"/>
                          <a:cs typeface="Arial" panose="020B0604020202020204" pitchFamily="34" charset="0"/>
                        </a:rPr>
                        <a:t>In Progress</a:t>
                      </a:r>
                    </a:p>
                  </a:txBody>
                  <a:tcPr/>
                </a:tc>
                <a:extLst>
                  <a:ext uri="{0D108BD9-81ED-4DB2-BD59-A6C34878D82A}">
                    <a16:rowId xmlns:a16="http://schemas.microsoft.com/office/drawing/2014/main" val="3614983783"/>
                  </a:ext>
                </a:extLst>
              </a:tr>
              <a:tr h="370840">
                <a:tc>
                  <a:txBody>
                    <a:bodyPr/>
                    <a:lstStyle/>
                    <a:p>
                      <a:r>
                        <a:rPr lang="en-PH" dirty="0">
                          <a:latin typeface="Arial" panose="020B0604020202020204" pitchFamily="34" charset="0"/>
                          <a:cs typeface="Arial" panose="020B0604020202020204" pitchFamily="34" charset="0"/>
                        </a:rPr>
                        <a:t>User Acceptance Testing</a:t>
                      </a:r>
                    </a:p>
                  </a:txBody>
                  <a:tcPr/>
                </a:tc>
                <a:tc>
                  <a:txBody>
                    <a:bodyPr/>
                    <a:lstStyle/>
                    <a:p>
                      <a:r>
                        <a:rPr lang="en-US" sz="1800" b="0" i="0" u="none" strike="noStrike" kern="1200" dirty="0">
                          <a:solidFill>
                            <a:schemeClr val="tx1"/>
                          </a:solidFill>
                          <a:effectLst/>
                          <a:latin typeface="+mn-lt"/>
                          <a:ea typeface="+mn-ea"/>
                          <a:cs typeface="+mn-cs"/>
                        </a:rPr>
                        <a:t>Overall, the results of the User Acceptance Testing indicate that Auto-</a:t>
                      </a:r>
                      <a:r>
                        <a:rPr lang="en-US" sz="1800" b="0" i="0" u="none" strike="noStrike" kern="1200" dirty="0" err="1">
                          <a:solidFill>
                            <a:schemeClr val="tx1"/>
                          </a:solidFill>
                          <a:effectLst/>
                          <a:latin typeface="+mn-lt"/>
                          <a:ea typeface="+mn-ea"/>
                          <a:cs typeface="+mn-cs"/>
                        </a:rPr>
                        <a:t>ComPAnIon</a:t>
                      </a:r>
                      <a:r>
                        <a:rPr lang="en-US" sz="1800" b="0" i="0" u="none" strike="noStrike" kern="1200" dirty="0">
                          <a:solidFill>
                            <a:schemeClr val="tx1"/>
                          </a:solidFill>
                          <a:effectLst/>
                          <a:latin typeface="+mn-lt"/>
                          <a:ea typeface="+mn-ea"/>
                          <a:cs typeface="+mn-cs"/>
                        </a:rPr>
                        <a:t> is a reliable and user-friendly system that meets the client’s expectations while allowing room for continuous improvements.</a:t>
                      </a:r>
                      <a:endParaRPr lang="en-PH" dirty="0">
                        <a:latin typeface="Arial" panose="020B0604020202020204" pitchFamily="34" charset="0"/>
                        <a:cs typeface="Arial" panose="020B0604020202020204" pitchFamily="34" charset="0"/>
                      </a:endParaRPr>
                    </a:p>
                  </a:txBody>
                  <a:tcPr/>
                </a:tc>
                <a:tc>
                  <a:txBody>
                    <a:bodyPr/>
                    <a:lstStyle/>
                    <a:p>
                      <a:r>
                        <a:rPr lang="en-PH" dirty="0">
                          <a:latin typeface="Arial" panose="020B0604020202020204" pitchFamily="34" charset="0"/>
                          <a:cs typeface="Arial" panose="020B0604020202020204" pitchFamily="34" charset="0"/>
                        </a:rPr>
                        <a:t>Complete</a:t>
                      </a:r>
                    </a:p>
                  </a:txBody>
                  <a:tcPr/>
                </a:tc>
                <a:extLst>
                  <a:ext uri="{0D108BD9-81ED-4DB2-BD59-A6C34878D82A}">
                    <a16:rowId xmlns:a16="http://schemas.microsoft.com/office/drawing/2014/main" val="3090192759"/>
                  </a:ext>
                </a:extLst>
              </a:tr>
            </a:tbl>
          </a:graphicData>
        </a:graphic>
      </p:graphicFrame>
    </p:spTree>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1DC93-C98F-B80F-B851-C8E7F5A679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2BCDF5-21CA-B3D9-7FAC-0B949BE97FCE}"/>
              </a:ext>
            </a:extLst>
          </p:cNvPr>
          <p:cNvSpPr>
            <a:spLocks noGrp="1"/>
          </p:cNvSpPr>
          <p:nvPr>
            <p:ph type="ctrTitle"/>
          </p:nvPr>
        </p:nvSpPr>
        <p:spPr>
          <a:xfrm>
            <a:off x="1430632" y="2801148"/>
            <a:ext cx="10363200" cy="1470025"/>
          </a:xfrm>
        </p:spPr>
        <p:txBody>
          <a:bodyPr>
            <a:normAutofit fontScale="90000"/>
          </a:bodyPr>
          <a:lstStyle/>
          <a:p>
            <a:r>
              <a:rPr lang="en-PH" sz="7200" dirty="0"/>
              <a:t>Product</a:t>
            </a:r>
            <a:br>
              <a:rPr lang="en-PH" sz="7200" dirty="0"/>
            </a:br>
            <a:r>
              <a:rPr lang="en-PH" sz="7200" dirty="0"/>
              <a:t>Demonstration</a:t>
            </a:r>
          </a:p>
        </p:txBody>
      </p:sp>
    </p:spTree>
    <p:extLst>
      <p:ext uri="{BB962C8B-B14F-4D97-AF65-F5344CB8AC3E}">
        <p14:creationId xmlns:p14="http://schemas.microsoft.com/office/powerpoint/2010/main" val="27316568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PH" dirty="0"/>
              <a:t>Users’ </a:t>
            </a:r>
            <a:r>
              <a:rPr dirty="0"/>
              <a:t>Evaluation</a:t>
            </a:r>
          </a:p>
        </p:txBody>
      </p:sp>
      <p:sp>
        <p:nvSpPr>
          <p:cNvPr id="3" name="TextBox 2">
            <a:extLst>
              <a:ext uri="{FF2B5EF4-FFF2-40B4-BE49-F238E27FC236}">
                <a16:creationId xmlns:a16="http://schemas.microsoft.com/office/drawing/2014/main" id="{638F6BFB-270C-2CCB-2BB7-5FC397093BAF}"/>
              </a:ext>
            </a:extLst>
          </p:cNvPr>
          <p:cNvSpPr txBox="1"/>
          <p:nvPr/>
        </p:nvSpPr>
        <p:spPr>
          <a:xfrm>
            <a:off x="1127760" y="1574397"/>
            <a:ext cx="5110994" cy="4493538"/>
          </a:xfrm>
          <a:prstGeom prst="rect">
            <a:avLst/>
          </a:prstGeom>
          <a:noFill/>
        </p:spPr>
        <p:txBody>
          <a:bodyPr wrap="square" rtlCol="0">
            <a:spAutoFit/>
          </a:bodyPr>
          <a:lstStyle/>
          <a:p>
            <a:r>
              <a:rPr lang="en-US" sz="2200" dirty="0"/>
              <a:t>During the product demonstration of </a:t>
            </a:r>
          </a:p>
          <a:p>
            <a:r>
              <a:rPr lang="en-US" sz="2200" i="1" dirty="0"/>
              <a:t>Auto-</a:t>
            </a:r>
            <a:r>
              <a:rPr lang="en-US" sz="2200" i="1" dirty="0" err="1"/>
              <a:t>ComPAnIon</a:t>
            </a:r>
            <a:r>
              <a:rPr lang="en-US" sz="2200" dirty="0"/>
              <a:t>, the client expressed positive feedback, particularly valuing the shift from manual transaction logging to a digitalized POS and Inventory system with predictive features. The system achieved an overall mean score of </a:t>
            </a:r>
            <a:r>
              <a:rPr lang="en-US" sz="2200" i="1" dirty="0"/>
              <a:t>4.32</a:t>
            </a:r>
            <a:r>
              <a:rPr lang="en-US" sz="2200" dirty="0"/>
              <a:t> based on an ISO 25010 model, indicating an </a:t>
            </a:r>
            <a:r>
              <a:rPr lang="en-US" sz="2200" i="1" dirty="0"/>
              <a:t>Effective to Very Effective level</a:t>
            </a:r>
            <a:r>
              <a:rPr lang="en-US" sz="2200" b="1" dirty="0"/>
              <a:t> </a:t>
            </a:r>
            <a:r>
              <a:rPr lang="en-US" sz="2200" dirty="0"/>
              <a:t>across key quality attributes. This suggests that the system is reliable, user-friendly, and functionally suitable for improving their operational efficiency.</a:t>
            </a:r>
            <a:endParaRPr lang="en-PH" sz="2200" dirty="0"/>
          </a:p>
        </p:txBody>
      </p:sp>
      <p:pic>
        <p:nvPicPr>
          <p:cNvPr id="5" name="Picture 4">
            <a:extLst>
              <a:ext uri="{FF2B5EF4-FFF2-40B4-BE49-F238E27FC236}">
                <a16:creationId xmlns:a16="http://schemas.microsoft.com/office/drawing/2014/main" id="{78F2CAF1-0644-CE85-EB06-360F49094FE6}"/>
              </a:ext>
            </a:extLst>
          </p:cNvPr>
          <p:cNvPicPr>
            <a:picLocks noChangeAspect="1"/>
          </p:cNvPicPr>
          <p:nvPr/>
        </p:nvPicPr>
        <p:blipFill>
          <a:blip r:embed="rId3"/>
          <a:srcRect/>
          <a:stretch/>
        </p:blipFill>
        <p:spPr>
          <a:xfrm>
            <a:off x="6503946" y="1514927"/>
            <a:ext cx="4449762" cy="4449762"/>
          </a:xfrm>
          <a:prstGeom prst="rect">
            <a:avLst/>
          </a:prstGeom>
        </p:spPr>
      </p:pic>
    </p:spTree>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Enhancements</a:t>
            </a:r>
          </a:p>
        </p:txBody>
      </p:sp>
      <p:sp>
        <p:nvSpPr>
          <p:cNvPr id="4" name="Rectangle 1">
            <a:extLst>
              <a:ext uri="{FF2B5EF4-FFF2-40B4-BE49-F238E27FC236}">
                <a16:creationId xmlns:a16="http://schemas.microsoft.com/office/drawing/2014/main" id="{D8AE94FD-C220-5AC3-D24A-80B397673B3D}"/>
              </a:ext>
            </a:extLst>
          </p:cNvPr>
          <p:cNvSpPr>
            <a:spLocks noGrp="1" noChangeArrowheads="1"/>
          </p:cNvSpPr>
          <p:nvPr>
            <p:ph idx="4294967295"/>
          </p:nvPr>
        </p:nvSpPr>
        <p:spPr bwMode="auto">
          <a:xfrm>
            <a:off x="945266" y="1144668"/>
            <a:ext cx="10478947" cy="5632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1" i="0" u="none" strike="noStrike" cap="none" normalizeH="0" baseline="0" dirty="0">
                <a:ln>
                  <a:noFill/>
                </a:ln>
                <a:solidFill>
                  <a:schemeClr val="tx1"/>
                </a:solidFill>
                <a:effectLst/>
              </a:rPr>
              <a:t>1. Quality of Life Improvements</a:t>
            </a:r>
            <a:r>
              <a:rPr kumimoji="0" lang="en-US" altLang="en-US" sz="2400" i="0" u="none" strike="noStrike" cap="none" normalizeH="0" baseline="0" dirty="0">
                <a:ln>
                  <a:noFill/>
                </a:ln>
                <a:solidFill>
                  <a:schemeClr val="tx1"/>
                </a:solidFill>
                <a:effectLst/>
              </a:rPr>
              <a:t> </a:t>
            </a:r>
          </a:p>
          <a:p>
            <a:pPr lvl="1" indent="-342900" defTabSz="914400" eaLnBrk="0" fontAlgn="base" hangingPunct="0">
              <a:spcBef>
                <a:spcPct val="0"/>
              </a:spcBef>
              <a:spcAft>
                <a:spcPct val="0"/>
              </a:spcAft>
              <a:buFont typeface="Wingdings" panose="05000000000000000000" pitchFamily="2" charset="2"/>
              <a:buChar char="q"/>
            </a:pPr>
            <a:r>
              <a:rPr lang="en-US" altLang="en-US" sz="2400" dirty="0"/>
              <a:t>I</a:t>
            </a:r>
            <a:r>
              <a:rPr kumimoji="0" lang="en-US" altLang="en-US" sz="2400" b="0" i="0" u="none" strike="noStrike" cap="none" normalizeH="0" baseline="0" dirty="0">
                <a:ln>
                  <a:noFill/>
                </a:ln>
                <a:solidFill>
                  <a:schemeClr val="tx1"/>
                </a:solidFill>
                <a:effectLst/>
              </a:rPr>
              <a:t>mplementation of auto-fill features for repetitive inputs in business logs </a:t>
            </a:r>
          </a:p>
          <a:p>
            <a:pPr lvl="1" indent="-342900" defTabSz="914400" eaLnBrk="0" fontAlgn="base" hangingPunct="0">
              <a:spcBef>
                <a:spcPct val="0"/>
              </a:spcBef>
              <a:spcAft>
                <a:spcPct val="0"/>
              </a:spcAft>
              <a:buFont typeface="Wingdings" panose="05000000000000000000" pitchFamily="2" charset="2"/>
              <a:buChar char="q"/>
            </a:pPr>
            <a:r>
              <a:rPr kumimoji="0" lang="en-US" altLang="en-US" sz="2400" b="0" i="0" u="none" strike="noStrike" cap="none" normalizeH="0" baseline="0" dirty="0">
                <a:ln>
                  <a:noFill/>
                </a:ln>
                <a:solidFill>
                  <a:schemeClr val="tx1"/>
                </a:solidFill>
                <a:effectLst/>
              </a:rPr>
              <a:t>Addition of status tracking for purchase orders to improve workflow visibility.</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1" i="0" u="none" strike="noStrike" cap="none" normalizeH="0" baseline="0" dirty="0">
                <a:ln>
                  <a:noFill/>
                </a:ln>
                <a:solidFill>
                  <a:schemeClr val="tx1"/>
                </a:solidFill>
                <a:effectLst/>
              </a:rPr>
              <a:t>2. Confidence Score</a:t>
            </a:r>
          </a:p>
          <a:p>
            <a:pPr lvl="1" defTabSz="914400" eaLnBrk="0" fontAlgn="base" hangingPunct="0">
              <a:spcBef>
                <a:spcPct val="0"/>
              </a:spcBef>
              <a:spcAft>
                <a:spcPct val="0"/>
              </a:spcAft>
              <a:buFont typeface="Wingdings" panose="05000000000000000000" pitchFamily="2" charset="2"/>
              <a:buChar char="q"/>
            </a:pPr>
            <a:r>
              <a:rPr kumimoji="0" lang="en-US" altLang="en-US" sz="2400" b="0" i="0" u="none" strike="noStrike" cap="none" normalizeH="0" baseline="0" dirty="0">
                <a:ln>
                  <a:noFill/>
                </a:ln>
                <a:solidFill>
                  <a:schemeClr val="tx1"/>
                </a:solidFill>
                <a:effectLst/>
              </a:rPr>
              <a:t>Introduction of a metric that indicates the reliability or confidence level of AI-generated predictions.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1" i="0" u="none" strike="noStrike" cap="none" normalizeH="0" baseline="0" dirty="0">
                <a:ln>
                  <a:noFill/>
                </a:ln>
                <a:solidFill>
                  <a:schemeClr val="tx1"/>
                </a:solidFill>
                <a:effectLst/>
              </a:rPr>
              <a:t>3. Prediction Accuracy Assessment </a:t>
            </a:r>
            <a:r>
              <a:rPr kumimoji="0" lang="en-US" altLang="en-US" sz="2400" b="0" i="0" u="none" strike="noStrike" cap="none" normalizeH="0" baseline="0" dirty="0">
                <a:ln>
                  <a:noFill/>
                </a:ln>
                <a:solidFill>
                  <a:schemeClr val="tx1"/>
                </a:solidFill>
                <a:effectLst/>
              </a:rPr>
              <a:t> </a:t>
            </a:r>
          </a:p>
          <a:p>
            <a:pPr lvl="1" defTabSz="914400" eaLnBrk="0" fontAlgn="base" hangingPunct="0">
              <a:spcBef>
                <a:spcPct val="0"/>
              </a:spcBef>
              <a:spcAft>
                <a:spcPct val="0"/>
              </a:spcAft>
              <a:buFont typeface="Wingdings" panose="05000000000000000000" pitchFamily="2" charset="2"/>
              <a:buChar char="q"/>
            </a:pPr>
            <a:r>
              <a:rPr kumimoji="0" lang="en-US" altLang="en-US" sz="2400" b="0" i="0" u="none" strike="noStrike" cap="none" normalizeH="0" baseline="0" dirty="0">
                <a:ln>
                  <a:noFill/>
                </a:ln>
                <a:solidFill>
                  <a:schemeClr val="tx1"/>
                </a:solidFill>
                <a:effectLst/>
              </a:rPr>
              <a:t>Development of a feature to compare predicted values against actual outcomes to evaluate model performance.</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400" b="1" i="0" u="none" strike="noStrike" cap="none" normalizeH="0" baseline="0" dirty="0">
                <a:ln>
                  <a:noFill/>
                </a:ln>
                <a:solidFill>
                  <a:schemeClr val="tx1"/>
                </a:solidFill>
                <a:effectLst/>
              </a:rPr>
              <a:t>4. AI Model Enhancement</a:t>
            </a:r>
            <a:r>
              <a:rPr kumimoji="0" lang="en-US" altLang="en-US" sz="2400" b="0" i="0" u="none" strike="noStrike" cap="none" normalizeH="0" baseline="0" dirty="0">
                <a:ln>
                  <a:noFill/>
                </a:ln>
                <a:solidFill>
                  <a:schemeClr val="tx1"/>
                </a:solidFill>
                <a:effectLst/>
              </a:rPr>
              <a:t> </a:t>
            </a:r>
          </a:p>
          <a:p>
            <a:pPr lvl="1" defTabSz="914400" eaLnBrk="0" fontAlgn="base" hangingPunct="0">
              <a:spcBef>
                <a:spcPct val="0"/>
              </a:spcBef>
              <a:spcAft>
                <a:spcPct val="0"/>
              </a:spcAft>
              <a:buFont typeface="Wingdings" panose="05000000000000000000" pitchFamily="2" charset="2"/>
              <a:buChar char="q"/>
            </a:pPr>
            <a:r>
              <a:rPr kumimoji="0" lang="en-US" altLang="en-US" sz="2400" b="0" i="0" u="none" strike="noStrike" cap="none" normalizeH="0" baseline="0" dirty="0">
                <a:ln>
                  <a:noFill/>
                </a:ln>
                <a:solidFill>
                  <a:schemeClr val="tx1"/>
                </a:solidFill>
                <a:effectLst/>
              </a:rPr>
              <a:t>Transition from a regression-based model to a reinforcement learning approach to improve adaptability and prediction accuracy over time.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tx1"/>
              </a:solidFill>
              <a:effectLst/>
            </a:endParaRPr>
          </a:p>
        </p:txBody>
      </p:sp>
    </p:spTree>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4294967295"/>
          </p:nvPr>
        </p:nvSpPr>
        <p:spPr>
          <a:xfrm>
            <a:off x="736921" y="1707005"/>
            <a:ext cx="10972800" cy="4525963"/>
          </a:xfrm>
        </p:spPr>
        <p:txBody>
          <a:bodyPr/>
          <a:lstStyle/>
          <a:p>
            <a:pPr marL="0" indent="0">
              <a:buNone/>
            </a:pPr>
            <a:r>
              <a:rPr lang="en-US" i="1" dirty="0"/>
              <a:t>Auto-</a:t>
            </a:r>
            <a:r>
              <a:rPr lang="en-US" i="1" dirty="0" err="1"/>
              <a:t>ComPAnIon</a:t>
            </a:r>
            <a:r>
              <a:rPr lang="en-US" dirty="0"/>
              <a:t> successfully integrates POS, inventory management, and predictive analytics into a unified system designed for an auto supply shop. It enhances operational efficiency while enabling data-driven decision-making.</a:t>
            </a:r>
          </a:p>
          <a:p>
            <a:pPr marL="0" indent="0">
              <a:buNone/>
            </a:pPr>
            <a:r>
              <a:rPr lang="en-US" dirty="0"/>
              <a:t>Moving forward, continued improvements and exploration of advanced AI capabilities will further strengthen its role as a valuable business tool.</a:t>
            </a:r>
          </a:p>
        </p:txBody>
      </p:sp>
    </p:spTree>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4EA4-6419-42E8-C273-ADBF5F1A03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C50D6-EFCE-A5A0-6157-505B96E6F988}"/>
              </a:ext>
            </a:extLst>
          </p:cNvPr>
          <p:cNvSpPr>
            <a:spLocks noGrp="1"/>
          </p:cNvSpPr>
          <p:nvPr>
            <p:ph type="ctrTitle"/>
          </p:nvPr>
        </p:nvSpPr>
        <p:spPr>
          <a:xfrm>
            <a:off x="1430632" y="2801148"/>
            <a:ext cx="10363200" cy="1470025"/>
          </a:xfrm>
        </p:spPr>
        <p:txBody>
          <a:bodyPr>
            <a:normAutofit/>
          </a:bodyPr>
          <a:lstStyle/>
          <a:p>
            <a:r>
              <a:rPr lang="en-PH" sz="7200" dirty="0"/>
              <a:t>Questions?</a:t>
            </a:r>
          </a:p>
        </p:txBody>
      </p:sp>
    </p:spTree>
    <p:extLst>
      <p:ext uri="{BB962C8B-B14F-4D97-AF65-F5344CB8AC3E}">
        <p14:creationId xmlns:p14="http://schemas.microsoft.com/office/powerpoint/2010/main" val="5486215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F095D-19F4-A89D-643F-55C55CDE2C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FBE57-CD7B-D1EB-3504-F2DAF43029F8}"/>
              </a:ext>
            </a:extLst>
          </p:cNvPr>
          <p:cNvSpPr>
            <a:spLocks noGrp="1"/>
          </p:cNvSpPr>
          <p:nvPr>
            <p:ph type="ctrTitle"/>
          </p:nvPr>
        </p:nvSpPr>
        <p:spPr>
          <a:xfrm>
            <a:off x="1430632" y="2801148"/>
            <a:ext cx="10363200" cy="1470025"/>
          </a:xfrm>
        </p:spPr>
        <p:txBody>
          <a:bodyPr>
            <a:normAutofit/>
          </a:bodyPr>
          <a:lstStyle/>
          <a:p>
            <a:r>
              <a:rPr lang="en-PH" sz="7200" dirty="0"/>
              <a:t>Thank you!</a:t>
            </a:r>
          </a:p>
        </p:txBody>
      </p:sp>
    </p:spTree>
    <p:extLst>
      <p:ext uri="{BB962C8B-B14F-4D97-AF65-F5344CB8AC3E}">
        <p14:creationId xmlns:p14="http://schemas.microsoft.com/office/powerpoint/2010/main" val="23967408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C6EFF203044E04DA6B665C1ED2A54C5" ma:contentTypeVersion="3" ma:contentTypeDescription="Create a new document." ma:contentTypeScope="" ma:versionID="5d88287550578cf0ce9d20934580355f">
  <xsd:schema xmlns:xsd="http://www.w3.org/2001/XMLSchema" xmlns:xs="http://www.w3.org/2001/XMLSchema" xmlns:p="http://schemas.microsoft.com/office/2006/metadata/properties" xmlns:ns2="77f20dd6-fd60-4027-90d0-db7f77362ee2" targetNamespace="http://schemas.microsoft.com/office/2006/metadata/properties" ma:root="true" ma:fieldsID="3d169f1566a0e550c4112e25c2f55d61" ns2:_="">
    <xsd:import namespace="77f20dd6-fd60-4027-90d0-db7f77362ee2"/>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7f20dd6-fd60-4027-90d0-db7f77362ee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F03FC3F-ACB3-4015-8F6B-5AC0C5B9DA3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68F9C900-BA80-496B-B0FA-4D3835375CA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7f20dd6-fd60-4027-90d0-db7f77362e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5C7BB48-8BEA-405F-9DCE-E719683F018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488</TotalTime>
  <Words>1203</Words>
  <Application>Microsoft Office PowerPoint</Application>
  <PresentationFormat>Widescreen</PresentationFormat>
  <Paragraphs>130</Paragraphs>
  <Slides>19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Arial</vt:lpstr>
      <vt:lpstr>Arial Black</vt:lpstr>
      <vt:lpstr>Calibri</vt:lpstr>
      <vt:lpstr>Wingdings</vt:lpstr>
      <vt:lpstr>Office Theme</vt:lpstr>
      <vt:lpstr>Auto-ComPAnIon: Auto Supply Shop Inventory System with Predictive AI</vt:lpstr>
      <vt:lpstr>Project Overview</vt:lpstr>
      <vt:lpstr>Project Team and Required Tasks</vt:lpstr>
      <vt:lpstr>Current Business and Technical Situations</vt:lpstr>
      <vt:lpstr>Proposed Current and Technical Situations</vt:lpstr>
      <vt:lpstr>Objectives</vt:lpstr>
      <vt:lpstr>Benefits and Impact</vt:lpstr>
      <vt:lpstr>Project Milestones</vt:lpstr>
      <vt:lpstr>Constraints Analysis</vt:lpstr>
      <vt:lpstr>System Features</vt:lpstr>
      <vt:lpstr>AI / Data Analytics Utilization</vt:lpstr>
      <vt:lpstr>User Interface</vt:lpstr>
      <vt:lpstr>Testing</vt:lpstr>
      <vt:lpstr>Product Demonstration</vt:lpstr>
      <vt:lpstr>Users’ Evaluation</vt:lpstr>
      <vt:lpstr>Future Enhancements</vt:lpstr>
      <vt:lpstr>Conclusion</vt:lpstr>
      <vt:lpstr>Questions?</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Shekinah Bolante</cp:lastModifiedBy>
  <cp:revision>16</cp:revision>
  <dcterms:created xsi:type="dcterms:W3CDTF">2013-01-27T09:14:16Z</dcterms:created>
  <dcterms:modified xsi:type="dcterms:W3CDTF">2026-04-29T02:50:13Z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0x0101005C6EFF203044E04DA6B665C1ED2A54C5</vt:lpwstr>
  </property>
</Properties>
</file>