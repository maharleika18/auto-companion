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1_0.xml" ContentType="application/vnd.ms-powerpoint.comments+xml"/>
  <Override PartName="/ppt/comments/modernComment_116_93DCAF6F.xml" ContentType="application/vnd.ms-powerpoint.comments+xml"/>
  <Override PartName="/ppt/comments/modernComment_102_0.xml" ContentType="application/vnd.ms-powerpoint.comments+xml"/>
  <Override PartName="/ppt/comments/modernComment_104_0.xml" ContentType="application/vnd.ms-powerpoint.comments+xml"/>
  <Override PartName="/ppt/comments/modernComment_117_3BF66E3A.xml" ContentType="application/vnd.ms-powerpoint.comments+xml"/>
  <Override PartName="/ppt/comments/modernComment_11D_0.xml" ContentType="application/vnd.ms-powerpoint.comments+xml"/>
  <Override PartName="/ppt/comments/modernComment_123_5CA87AE5.xml" ContentType="application/vnd.ms-powerpoint.comments+xml"/>
  <Override PartName="/ppt/comments/modernComment_10A_0.xml" ContentType="application/vnd.ms-powerpoint.comments+xml"/>
  <Override PartName="/ppt/comments/modernComment_10B_0.xml" ContentType="application/vnd.ms-powerpoint.comments+xml"/>
  <Override PartName="/ppt/comments/modernComment_11E_0.xml" ContentType="application/vnd.ms-powerpoint.comments+xml"/>
  <Override PartName="/ppt/comments/modernComment_10E_0.xml" ContentType="application/vnd.ms-powerpoint.comments+xml"/>
  <Override PartName="/ppt/comments/modernComment_10F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73" r:id="rId5"/>
    <p:sldId id="257" r:id="rId6"/>
    <p:sldId id="278" r:id="rId7"/>
    <p:sldId id="258" r:id="rId8"/>
    <p:sldId id="260" r:id="rId9"/>
    <p:sldId id="284" r:id="rId10"/>
    <p:sldId id="268" r:id="rId11"/>
    <p:sldId id="263" r:id="rId12"/>
    <p:sldId id="279" r:id="rId13"/>
    <p:sldId id="285" r:id="rId14"/>
    <p:sldId id="291" r:id="rId15"/>
    <p:sldId id="266" r:id="rId16"/>
    <p:sldId id="267" r:id="rId17"/>
    <p:sldId id="281" r:id="rId18"/>
    <p:sldId id="286" r:id="rId19"/>
    <p:sldId id="270" r:id="rId20"/>
    <p:sldId id="271"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3E6491-45F6-1D31-3A80-EA1FC7103554}" name="Marco Antonio Subion" initials="MS" userId="0726b182d3c1192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0000"/>
    <a:srgbClr val="F282CA"/>
    <a:srgbClr val="F240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napToObjects="1">
      <p:cViewPr>
        <p:scale>
          <a:sx n="66" d="100"/>
          <a:sy n="66" d="100"/>
        </p:scale>
        <p:origin x="1330" y="317"/>
      </p:cViewPr>
      <p:guideLst>
        <p:guide orient="horz" pos="2160"/>
        <p:guide pos="3840"/>
      </p:guideLst>
    </p:cSldViewPr>
  </p:slideViewPr>
  <p:notesTextViewPr>
    <p:cViewPr>
      <p:scale>
        <a:sx n="3" d="2"/>
        <a:sy n="3" d="2"/>
      </p:scale>
      <p:origin x="0" y="0"/>
    </p:cViewPr>
  </p:notesTextViewPr>
  <p:sorterViewPr>
    <p:cViewPr>
      <p:scale>
        <a:sx n="80" d="100"/>
        <a:sy n="80" d="100"/>
      </p:scale>
      <p:origin x="0" y="0"/>
    </p:cViewPr>
  </p:sorterViewPr>
  <p:notesViewPr>
    <p:cSldViewPr snapToGrid="0" snapToObjects="1">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EF65CAC5-5F51-4B21-83D7-0ABBF0A4DC30}" authorId="{273E6491-45F6-1D31-3A80-EA1FC7103554}" created="2026-03-23T10:08:03.516">
    <ac:deMkLst xmlns:ac="http://schemas.microsoft.com/office/drawing/2013/main/command">
      <pc:docMk xmlns:pc="http://schemas.microsoft.com/office/powerpoint/2013/main/command"/>
      <pc:sldMk xmlns:pc="http://schemas.microsoft.com/office/powerpoint/2013/main/command" cId="0" sldId="266"/>
      <ac:spMk id="3" creationId="{00000000-0000-0000-0000-000000000000}"/>
    </ac:deMkLst>
    <p188:txBody>
      <a:bodyPr/>
      <a:lstStyle/>
      <a:p>
        <a:r>
          <a:rPr lang="en-PH"/>
          <a:t>Screenshots
Key interactions
Insert UI screenshots and explain usability features.</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7A9DFDED-C277-44DD-9E0E-514DA8E872BD}" authorId="{273E6491-45F6-1D31-3A80-EA1FC7103554}" created="2026-03-23T10:04:18.493">
    <pc:sldMkLst xmlns:pc="http://schemas.microsoft.com/office/powerpoint/2013/main/command">
      <pc:docMk/>
      <pc:sldMk cId="0" sldId="267"/>
    </pc:sldMkLst>
    <p188:txBody>
      <a:bodyPr/>
      <a:lstStyle/>
      <a:p>
        <a:r>
          <a:rPr lang="en-PH"/>
          <a:t>Place User Acceptance Testing Results here.</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49804FEE-A565-4929-9955-DB9708E24E55}" authorId="{273E6491-45F6-1D31-3A80-EA1FC7103554}" created="2026-03-23T10:07:38.106">
    <ac:deMkLst xmlns:ac="http://schemas.microsoft.com/office/drawing/2013/main/command">
      <pc:docMk xmlns:pc="http://schemas.microsoft.com/office/powerpoint/2013/main/command"/>
      <pc:sldMk xmlns:pc="http://schemas.microsoft.com/office/powerpoint/2013/main/command" cId="0" sldId="270"/>
      <ac:spMk id="3" creationId="{00000000-0000-0000-0000-000000000000}"/>
    </ac:deMkLst>
    <p188:txBody>
      <a:bodyPr/>
      <a:lstStyle/>
      <a:p>
        <a:r>
          <a:rPr lang="en-PH"/>
          <a:t>Planned improvements
Scalability ideas
Suggest realistic next steps.</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BA46A4A5-52EB-4DA7-8F6F-760AE768D2D7}" authorId="{273E6491-45F6-1D31-3A80-EA1FC7103554}" created="2026-03-23T10:07:27.104">
    <ac:deMkLst xmlns:ac="http://schemas.microsoft.com/office/drawing/2013/main/command">
      <pc:docMk xmlns:pc="http://schemas.microsoft.com/office/powerpoint/2013/main/command"/>
      <pc:sldMk xmlns:pc="http://schemas.microsoft.com/office/powerpoint/2013/main/command" cId="0" sldId="271"/>
      <ac:spMk id="3" creationId="{00000000-0000-0000-0000-000000000000}"/>
    </ac:deMkLst>
    <p188:txBody>
      <a:bodyPr/>
      <a:lstStyle/>
      <a:p>
        <a:r>
          <a:rPr lang="en-PH"/>
          <a:t>Summary of project
Key takeaway
Reinforce the importance of your solution.</a:t>
        </a:r>
      </a:p>
    </p188:txBody>
  </p188:cm>
</p188:cmLst>
</file>

<file path=ppt/comments/modernComment_11D_0.xml><?xml version="1.0" encoding="utf-8"?>
<p188:cmLst xmlns:a="http://schemas.openxmlformats.org/drawingml/2006/main" xmlns:r="http://schemas.openxmlformats.org/officeDocument/2006/relationships" xmlns:p188="http://schemas.microsoft.com/office/powerpoint/2018/8/main">
  <p188:cm id="{B77A7816-626A-48D3-9CC7-B252845324FF}" authorId="{273E6491-45F6-1D31-3A80-EA1FC7103554}" created="2026-03-23T10:01:49.891">
    <ac:txMkLst xmlns:ac="http://schemas.microsoft.com/office/drawing/2013/main/command">
      <pc:docMk xmlns:pc="http://schemas.microsoft.com/office/powerpoint/2013/main/command"/>
      <pc:sldMk xmlns:pc="http://schemas.microsoft.com/office/powerpoint/2013/main/command" cId="0" sldId="285"/>
      <ac:spMk id="2" creationId="{00000000-0000-0000-0000-000000000000}"/>
      <ac:txMk cp="0" len="15">
        <ac:context len="16" hash="2728674769"/>
      </ac:txMk>
    </ac:txMkLst>
    <p188:pos x="4753510" y="475375"/>
    <p188:txBody>
      <a:bodyPr/>
      <a:lstStyle/>
      <a:p>
        <a:r>
          <a:rPr lang="en-PH"/>
          <a:t>Highlight core functionalities of your system.</a:t>
        </a:r>
      </a:p>
    </p188:txBody>
  </p188:cm>
</p188:cmLst>
</file>

<file path=ppt/comments/modernComment_11E_0.xml><?xml version="1.0" encoding="utf-8"?>
<p188:cmLst xmlns:a="http://schemas.openxmlformats.org/drawingml/2006/main" xmlns:r="http://schemas.openxmlformats.org/officeDocument/2006/relationships" xmlns:p188="http://schemas.microsoft.com/office/powerpoint/2018/8/main">
  <p188:cm id="{7A9DFDED-C277-44DD-9E0E-514DA8E872BD}" authorId="{273E6491-45F6-1D31-3A80-EA1FC7103554}" created="2026-03-23T10:04:18.493">
    <pc:sldMkLst xmlns:pc="http://schemas.microsoft.com/office/powerpoint/2013/main/command">
      <pc:docMk/>
      <pc:sldMk cId="0" sldId="267"/>
    </pc:sldMkLst>
    <p188:txBody>
      <a:bodyPr/>
      <a:lstStyle/>
      <a:p>
        <a:r>
          <a:rPr lang="en-PH"/>
          <a:t>Place results of users’ evaluation based on ISO 25010.</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CCE2CC43-9A68-4359-B764-277689607B87}" authorId="{273E6491-45F6-1D31-3A80-EA1FC7103554}" created="2026-03-23T10:02:09.890">
    <ac:deMkLst xmlns:ac="http://schemas.microsoft.com/office/drawing/2013/main/command">
      <pc:docMk xmlns:pc="http://schemas.microsoft.com/office/powerpoint/2013/main/command"/>
      <pc:sldMk xmlns:pc="http://schemas.microsoft.com/office/powerpoint/2013/main/command" cId="0" sldId="257"/>
      <ac:spMk id="3" creationId="{00000000-0000-0000-0000-000000000000}"/>
    </ac:deMkLst>
    <p188:txBody>
      <a:bodyPr/>
      <a:lstStyle/>
      <a:p>
        <a:r>
          <a:rPr lang="en-PH"/>
          <a:t>Brief description of the system
Problem being solved
Client and Target users
Summarize your project in 3–4 concise bullet points.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9A1FAEC6-C50D-479F-8FE0-B723AE60C9CA}" authorId="{273E6491-45F6-1D31-3A80-EA1FC7103554}" created="2026-03-23T10:02:48.772">
    <ac:deMkLst xmlns:ac="http://schemas.microsoft.com/office/drawing/2013/main/command">
      <pc:docMk xmlns:pc="http://schemas.microsoft.com/office/powerpoint/2013/main/command"/>
      <pc:sldMk xmlns:pc="http://schemas.microsoft.com/office/powerpoint/2013/main/command" cId="0" sldId="258"/>
      <ac:spMk id="3" creationId="{00000000-0000-0000-0000-000000000000}"/>
    </ac:deMkLst>
    <p188:txBody>
      <a:bodyPr/>
      <a:lstStyle/>
      <a:p>
        <a:r>
          <a:rPr lang="en-PH"/>
          <a:t>What is the current issue?
Why is it important?
Who is affected?
Clearly define the real-world problem your system addresses.</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5A4B074F-9AF8-4C4A-8796-68E18A21A48C}" authorId="{273E6491-45F6-1D31-3A80-EA1FC7103554}" created="2026-03-23T10:02:58.281">
    <ac:deMkLst xmlns:ac="http://schemas.microsoft.com/office/drawing/2013/main/command">
      <pc:docMk xmlns:pc="http://schemas.microsoft.com/office/powerpoint/2013/main/command"/>
      <pc:sldMk xmlns:pc="http://schemas.microsoft.com/office/powerpoint/2013/main/command" cId="0" sldId="260"/>
      <ac:spMk id="3" creationId="{00000000-0000-0000-0000-000000000000}"/>
    </ac:deMkLst>
    <p188:txBody>
      <a:bodyPr/>
      <a:lstStyle/>
      <a:p>
        <a:r>
          <a:rPr lang="en-PH"/>
          <a:t>Explain how your system solves the problem differently or better.</a:t>
        </a:r>
      </a:p>
    </p188:txBody>
  </p188:cm>
</p188:cmLst>
</file>

<file path=ppt/comments/modernComment_116_93DCAF6F.xml><?xml version="1.0" encoding="utf-8"?>
<p188:cmLst xmlns:a="http://schemas.openxmlformats.org/drawingml/2006/main" xmlns:r="http://schemas.openxmlformats.org/officeDocument/2006/relationships" xmlns:p188="http://schemas.microsoft.com/office/powerpoint/2018/8/main">
  <p188:cm id="{DF804AEE-66B5-411C-B72D-ABBDC8088B68}" authorId="{273E6491-45F6-1D31-3A80-EA1FC7103554}" created="2026-03-23T10:02:29.297">
    <ac:deMkLst xmlns:ac="http://schemas.microsoft.com/office/drawing/2013/main/command">
      <pc:docMk xmlns:pc="http://schemas.microsoft.com/office/powerpoint/2013/main/command"/>
      <pc:sldMk xmlns:pc="http://schemas.microsoft.com/office/powerpoint/2013/main/command" cId="2480713583" sldId="278"/>
      <ac:spMk id="3" creationId="{667B2897-25B9-5DD4-8AA6-47BD0F9F0397}"/>
    </ac:deMkLst>
    <p188:txBody>
      <a:bodyPr/>
      <a:lstStyle/>
      <a:p>
        <a:r>
          <a:rPr lang="en-PH"/>
          <a:t>Place here your RACI Matrix</a:t>
        </a:r>
      </a:p>
    </p188:txBody>
  </p188:cm>
</p188:cmLst>
</file>

<file path=ppt/comments/modernComment_117_3BF66E3A.xml><?xml version="1.0" encoding="utf-8"?>
<p188:cmLst xmlns:a="http://schemas.openxmlformats.org/drawingml/2006/main" xmlns:r="http://schemas.openxmlformats.org/officeDocument/2006/relationships" xmlns:p188="http://schemas.microsoft.com/office/powerpoint/2018/8/main">
  <p188:cm id="{D06BF64B-F5B3-4DA2-921E-B79E7AA4F6F2}" authorId="{273E6491-45F6-1D31-3A80-EA1FC7103554}" created="2026-03-23T10:01:32.750">
    <ac:txMkLst xmlns:ac="http://schemas.microsoft.com/office/drawing/2013/main/command">
      <pc:docMk xmlns:pc="http://schemas.microsoft.com/office/powerpoint/2013/main/command"/>
      <pc:sldMk xmlns:pc="http://schemas.microsoft.com/office/powerpoint/2013/main/command" cId="1006005818" sldId="279"/>
      <ac:spMk id="2" creationId="{AA2CF327-EFEA-C9C1-5659-C8E7C9659C28}"/>
      <ac:txMk cp="0" len="20">
        <ac:context len="21" hash="3447466793"/>
      </ac:txMk>
    </ac:txMkLst>
    <p188:pos x="5822022" y="475375"/>
    <p188:txBody>
      <a:bodyPr/>
      <a:lstStyle/>
      <a:p>
        <a:r>
          <a:rPr lang="en-PH"/>
          <a:t>Place here the problems that were experienced by the group and how they were solved if any. If none, declare that the group did not experience any risks arising within the project  development </a:t>
        </a:r>
      </a:p>
    </p188:txBody>
  </p188:cm>
</p188:cmLst>
</file>

<file path=ppt/comments/modernComment_123_5CA87AE5.xml><?xml version="1.0" encoding="utf-8"?>
<p188:cmLst xmlns:a="http://schemas.openxmlformats.org/drawingml/2006/main" xmlns:r="http://schemas.openxmlformats.org/officeDocument/2006/relationships" xmlns:p188="http://schemas.microsoft.com/office/powerpoint/2018/8/main">
  <p188:cm id="{58CB6B06-82DA-49AA-BB47-9123E3F826AE}" authorId="{273E6491-45F6-1D31-3A80-EA1FC7103554}" created="2026-03-23T10:01:49.891">
    <ac:txMkLst xmlns:ac="http://schemas.microsoft.com/office/drawing/2013/main/command">
      <pc:docMk xmlns:pc="http://schemas.microsoft.com/office/powerpoint/2013/main/command"/>
      <pc:sldMk xmlns:pc="http://schemas.microsoft.com/office/powerpoint/2013/main/command" cId="1554545381" sldId="291"/>
      <ac:spMk id="2" creationId="{68675FB2-801D-BC37-4FA2-10679FE44C59}"/>
      <ac:txMk cp="0">
        <ac:context len="32" hash="263888932"/>
      </ac:txMk>
    </ac:txMkLst>
    <p188:pos x="4753510" y="475375"/>
    <p188:txBody>
      <a:bodyPr/>
      <a:lstStyle/>
      <a:p>
        <a:r>
          <a:rPr lang="en-PH"/>
          <a:t>Describe the AI model used in your game application.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B05754-64C0-7B76-388B-3DD42494BC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0021C952-180D-0CCB-349A-1535C4266C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921A4-2A8C-4752-A6F9-CEC27A3A545B}" type="datetimeFigureOut">
              <a:rPr lang="en-PH" smtClean="0"/>
              <a:t>4/27/2026</a:t>
            </a:fld>
            <a:endParaRPr lang="en-PH"/>
          </a:p>
        </p:txBody>
      </p:sp>
      <p:sp>
        <p:nvSpPr>
          <p:cNvPr id="4" name="Footer Placeholder 3">
            <a:extLst>
              <a:ext uri="{FF2B5EF4-FFF2-40B4-BE49-F238E27FC236}">
                <a16:creationId xmlns:a16="http://schemas.microsoft.com/office/drawing/2014/main" id="{5BE7C61D-5B7B-FD44-2F9F-BE347ECF8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78E4491A-80F7-9927-6DAC-FADAD1E936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CA0A52-C400-4E97-8811-7265CC3E1DCE}" type="slidenum">
              <a:rPr lang="en-PH" smtClean="0"/>
              <a:t>‹#›</a:t>
            </a:fld>
            <a:endParaRPr lang="en-PH"/>
          </a:p>
        </p:txBody>
      </p:sp>
    </p:spTree>
    <p:extLst>
      <p:ext uri="{BB962C8B-B14F-4D97-AF65-F5344CB8AC3E}">
        <p14:creationId xmlns:p14="http://schemas.microsoft.com/office/powerpoint/2010/main" val="4118391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FD228-1D3F-49F5-829B-846179C325C2}" type="datetimeFigureOut">
              <a:rPr lang="en-PH" smtClean="0"/>
              <a:t>4/27/2026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715677-04B0-457A-A181-7356C3A81838}" type="slidenum">
              <a:rPr lang="en-PH" smtClean="0"/>
              <a:t>‹#›</a:t>
            </a:fld>
            <a:endParaRPr lang="en-PH"/>
          </a:p>
        </p:txBody>
      </p:sp>
    </p:spTree>
    <p:extLst>
      <p:ext uri="{BB962C8B-B14F-4D97-AF65-F5344CB8AC3E}">
        <p14:creationId xmlns:p14="http://schemas.microsoft.com/office/powerpoint/2010/main" val="149436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CE715677-04B0-457A-A181-7356C3A81838}" type="slidenum">
              <a:rPr lang="en-PH" smtClean="0"/>
              <a:t>1</a:t>
            </a:fld>
            <a:endParaRPr lang="en-PH"/>
          </a:p>
        </p:txBody>
      </p:sp>
    </p:spTree>
    <p:extLst>
      <p:ext uri="{BB962C8B-B14F-4D97-AF65-F5344CB8AC3E}">
        <p14:creationId xmlns:p14="http://schemas.microsoft.com/office/powerpoint/2010/main" val="30607930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30632" y="2441552"/>
            <a:ext cx="10363200" cy="1470025"/>
          </a:xfrm>
        </p:spPr>
        <p:txBody>
          <a:bodyPr/>
          <a:lstStyle>
            <a:lvl1pPr algn="l">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1430632" y="4008790"/>
            <a:ext cx="8534400" cy="761215"/>
          </a:xfrm>
        </p:spPr>
        <p:txBody>
          <a:bodyPr/>
          <a:lstStyle>
            <a:lvl1pPr marL="0" indent="0" algn="l">
              <a:buNone/>
              <a:defRPr i="1">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grpSp>
        <p:nvGrpSpPr>
          <p:cNvPr id="8" name="Group 7">
            <a:extLst>
              <a:ext uri="{FF2B5EF4-FFF2-40B4-BE49-F238E27FC236}">
                <a16:creationId xmlns:a16="http://schemas.microsoft.com/office/drawing/2014/main" id="{6E6EF54A-7945-852E-198E-496D224DBB0C}"/>
              </a:ext>
            </a:extLst>
          </p:cNvPr>
          <p:cNvGrpSpPr/>
          <p:nvPr userDrawn="1"/>
        </p:nvGrpSpPr>
        <p:grpSpPr>
          <a:xfrm>
            <a:off x="-784349" y="-90075"/>
            <a:ext cx="13722166" cy="7511836"/>
            <a:chOff x="-784349" y="-90075"/>
            <a:chExt cx="13722166" cy="7511836"/>
          </a:xfrm>
        </p:grpSpPr>
        <p:grpSp>
          <p:nvGrpSpPr>
            <p:cNvPr id="27" name="Group 26">
              <a:extLst>
                <a:ext uri="{FF2B5EF4-FFF2-40B4-BE49-F238E27FC236}">
                  <a16:creationId xmlns:a16="http://schemas.microsoft.com/office/drawing/2014/main" id="{98F13D32-7ADE-7C8A-F072-56EB9CA8AB2E}"/>
                </a:ext>
              </a:extLst>
            </p:cNvPr>
            <p:cNvGrpSpPr/>
            <p:nvPr userDrawn="1"/>
          </p:nvGrpSpPr>
          <p:grpSpPr>
            <a:xfrm rot="16200000" flipV="1">
              <a:off x="9221778" y="151177"/>
              <a:ext cx="3957292" cy="3474787"/>
              <a:chOff x="8986626" y="-275031"/>
              <a:chExt cx="3957292" cy="3389149"/>
            </a:xfrm>
          </p:grpSpPr>
          <p:sp>
            <p:nvSpPr>
              <p:cNvPr id="28" name="Flowchart: Decision 27">
                <a:extLst>
                  <a:ext uri="{FF2B5EF4-FFF2-40B4-BE49-F238E27FC236}">
                    <a16:creationId xmlns:a16="http://schemas.microsoft.com/office/drawing/2014/main" id="{EC9CFC8D-E9C5-71A3-29B8-F252FAC80845}"/>
                  </a:ext>
                </a:extLst>
              </p:cNvPr>
              <p:cNvSpPr/>
              <p:nvPr userDrawn="1"/>
            </p:nvSpPr>
            <p:spPr>
              <a:xfrm>
                <a:off x="8986626" y="95299"/>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29" name="Flowchart: Decision 28">
                <a:extLst>
                  <a:ext uri="{FF2B5EF4-FFF2-40B4-BE49-F238E27FC236}">
                    <a16:creationId xmlns:a16="http://schemas.microsoft.com/office/drawing/2014/main" id="{D0559E35-73B9-C07D-E1C1-4D5C7819B479}"/>
                  </a:ext>
                </a:extLst>
              </p:cNvPr>
              <p:cNvSpPr/>
              <p:nvPr userDrawn="1"/>
            </p:nvSpPr>
            <p:spPr>
              <a:xfrm>
                <a:off x="10070445" y="80739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0" name="Flowchart: Decision 29">
                <a:extLst>
                  <a:ext uri="{FF2B5EF4-FFF2-40B4-BE49-F238E27FC236}">
                    <a16:creationId xmlns:a16="http://schemas.microsoft.com/office/drawing/2014/main" id="{FEF03FC5-ACF7-BBFC-072F-1A296B712AEF}"/>
                  </a:ext>
                </a:extLst>
              </p:cNvPr>
              <p:cNvSpPr/>
              <p:nvPr userDrawn="1"/>
            </p:nvSpPr>
            <p:spPr>
              <a:xfrm>
                <a:off x="10429973" y="-275031"/>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1" name="Flowchart: Decision 30">
                <a:extLst>
                  <a:ext uri="{FF2B5EF4-FFF2-40B4-BE49-F238E27FC236}">
                    <a16:creationId xmlns:a16="http://schemas.microsoft.com/office/drawing/2014/main" id="{1FB129F6-4CBD-33D5-7DE9-5EFF3151ED29}"/>
                  </a:ext>
                </a:extLst>
              </p:cNvPr>
              <p:cNvSpPr/>
              <p:nvPr userDrawn="1"/>
            </p:nvSpPr>
            <p:spPr>
              <a:xfrm>
                <a:off x="11298417" y="26394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dirty="0"/>
              </a:p>
            </p:txBody>
          </p:sp>
          <p:sp>
            <p:nvSpPr>
              <p:cNvPr id="32" name="Flowchart: Decision 31">
                <a:extLst>
                  <a:ext uri="{FF2B5EF4-FFF2-40B4-BE49-F238E27FC236}">
                    <a16:creationId xmlns:a16="http://schemas.microsoft.com/office/drawing/2014/main" id="{8E8FCDDC-3968-72FB-1DDA-B5DDCCDEE16B}"/>
                  </a:ext>
                </a:extLst>
              </p:cNvPr>
              <p:cNvSpPr/>
              <p:nvPr userDrawn="1"/>
            </p:nvSpPr>
            <p:spPr>
              <a:xfrm>
                <a:off x="11154264" y="1492707"/>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grpSp>
        <p:grpSp>
          <p:nvGrpSpPr>
            <p:cNvPr id="15" name="Group 14">
              <a:extLst>
                <a:ext uri="{FF2B5EF4-FFF2-40B4-BE49-F238E27FC236}">
                  <a16:creationId xmlns:a16="http://schemas.microsoft.com/office/drawing/2014/main" id="{3E3B4E7E-3B81-B48B-45B1-A7C9DB265366}"/>
                </a:ext>
              </a:extLst>
            </p:cNvPr>
            <p:cNvGrpSpPr/>
            <p:nvPr userDrawn="1"/>
          </p:nvGrpSpPr>
          <p:grpSpPr>
            <a:xfrm rot="5400000" flipV="1">
              <a:off x="-1025601" y="3705721"/>
              <a:ext cx="3957292" cy="3474787"/>
              <a:chOff x="8986626" y="-275031"/>
              <a:chExt cx="3957292" cy="3389149"/>
            </a:xfrm>
          </p:grpSpPr>
          <p:sp>
            <p:nvSpPr>
              <p:cNvPr id="16" name="Flowchart: Decision 15">
                <a:extLst>
                  <a:ext uri="{FF2B5EF4-FFF2-40B4-BE49-F238E27FC236}">
                    <a16:creationId xmlns:a16="http://schemas.microsoft.com/office/drawing/2014/main" id="{A46260AE-72F3-B222-410A-BC28C1A2E456}"/>
                  </a:ext>
                </a:extLst>
              </p:cNvPr>
              <p:cNvSpPr/>
              <p:nvPr userDrawn="1"/>
            </p:nvSpPr>
            <p:spPr>
              <a:xfrm>
                <a:off x="8986626" y="95299"/>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17" name="Flowchart: Decision 16">
                <a:extLst>
                  <a:ext uri="{FF2B5EF4-FFF2-40B4-BE49-F238E27FC236}">
                    <a16:creationId xmlns:a16="http://schemas.microsoft.com/office/drawing/2014/main" id="{1994164B-19E6-070A-15DE-23AD7B07B2C2}"/>
                  </a:ext>
                </a:extLst>
              </p:cNvPr>
              <p:cNvSpPr/>
              <p:nvPr userDrawn="1"/>
            </p:nvSpPr>
            <p:spPr>
              <a:xfrm>
                <a:off x="10070445" y="80739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18" name="Flowchart: Decision 17">
                <a:extLst>
                  <a:ext uri="{FF2B5EF4-FFF2-40B4-BE49-F238E27FC236}">
                    <a16:creationId xmlns:a16="http://schemas.microsoft.com/office/drawing/2014/main" id="{B7757013-F15C-1EEC-21FB-F919AD98FAAA}"/>
                  </a:ext>
                </a:extLst>
              </p:cNvPr>
              <p:cNvSpPr/>
              <p:nvPr userDrawn="1"/>
            </p:nvSpPr>
            <p:spPr>
              <a:xfrm>
                <a:off x="10429973" y="-275031"/>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19" name="Flowchart: Decision 18">
                <a:extLst>
                  <a:ext uri="{FF2B5EF4-FFF2-40B4-BE49-F238E27FC236}">
                    <a16:creationId xmlns:a16="http://schemas.microsoft.com/office/drawing/2014/main" id="{3E5D0585-EDC2-A22E-B51B-E06ABB0A8E4D}"/>
                  </a:ext>
                </a:extLst>
              </p:cNvPr>
              <p:cNvSpPr/>
              <p:nvPr userDrawn="1"/>
            </p:nvSpPr>
            <p:spPr>
              <a:xfrm>
                <a:off x="11298417" y="26394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20" name="Flowchart: Decision 19">
                <a:extLst>
                  <a:ext uri="{FF2B5EF4-FFF2-40B4-BE49-F238E27FC236}">
                    <a16:creationId xmlns:a16="http://schemas.microsoft.com/office/drawing/2014/main" id="{5AF8F57E-105C-FF35-1DA6-C9441265B01A}"/>
                  </a:ext>
                </a:extLst>
              </p:cNvPr>
              <p:cNvSpPr/>
              <p:nvPr userDrawn="1"/>
            </p:nvSpPr>
            <p:spPr>
              <a:xfrm>
                <a:off x="11154264" y="1492707"/>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grpSp>
        <p:grpSp>
          <p:nvGrpSpPr>
            <p:cNvPr id="7" name="Group 6">
              <a:extLst>
                <a:ext uri="{FF2B5EF4-FFF2-40B4-BE49-F238E27FC236}">
                  <a16:creationId xmlns:a16="http://schemas.microsoft.com/office/drawing/2014/main" id="{B7C1C01A-E793-FE6C-B46B-8707B9BF7BF5}"/>
                </a:ext>
              </a:extLst>
            </p:cNvPr>
            <p:cNvGrpSpPr/>
            <p:nvPr userDrawn="1"/>
          </p:nvGrpSpPr>
          <p:grpSpPr>
            <a:xfrm>
              <a:off x="275255" y="117125"/>
              <a:ext cx="3940857" cy="1740954"/>
              <a:chOff x="275255" y="117125"/>
              <a:chExt cx="3940857" cy="1740954"/>
            </a:xfrm>
          </p:grpSpPr>
          <p:grpSp>
            <p:nvGrpSpPr>
              <p:cNvPr id="24" name="Group 23">
                <a:extLst>
                  <a:ext uri="{FF2B5EF4-FFF2-40B4-BE49-F238E27FC236}">
                    <a16:creationId xmlns:a16="http://schemas.microsoft.com/office/drawing/2014/main" id="{2D467C81-6E54-762A-EE2F-2DE96F348C14}"/>
                  </a:ext>
                </a:extLst>
              </p:cNvPr>
              <p:cNvGrpSpPr/>
              <p:nvPr userDrawn="1"/>
            </p:nvGrpSpPr>
            <p:grpSpPr>
              <a:xfrm>
                <a:off x="1480811" y="253867"/>
                <a:ext cx="2735301" cy="1487087"/>
                <a:chOff x="1480811" y="253867"/>
                <a:chExt cx="2735301" cy="1487087"/>
              </a:xfrm>
            </p:grpSpPr>
            <p:sp>
              <p:nvSpPr>
                <p:cNvPr id="21" name="TextBox 20">
                  <a:extLst>
                    <a:ext uri="{FF2B5EF4-FFF2-40B4-BE49-F238E27FC236}">
                      <a16:creationId xmlns:a16="http://schemas.microsoft.com/office/drawing/2014/main" id="{B06FE650-DD14-C1CC-AB99-50FE640CA163}"/>
                    </a:ext>
                  </a:extLst>
                </p:cNvPr>
                <p:cNvSpPr txBox="1"/>
                <p:nvPr userDrawn="1"/>
              </p:nvSpPr>
              <p:spPr>
                <a:xfrm>
                  <a:off x="1480811" y="253867"/>
                  <a:ext cx="2735301"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College of</a:t>
                  </a:r>
                </a:p>
              </p:txBody>
            </p:sp>
            <p:sp>
              <p:nvSpPr>
                <p:cNvPr id="22" name="TextBox 21">
                  <a:extLst>
                    <a:ext uri="{FF2B5EF4-FFF2-40B4-BE49-F238E27FC236}">
                      <a16:creationId xmlns:a16="http://schemas.microsoft.com/office/drawing/2014/main" id="{EAA4F2C9-8DD4-3216-3C08-D59650974FC2}"/>
                    </a:ext>
                  </a:extLst>
                </p:cNvPr>
                <p:cNvSpPr txBox="1"/>
                <p:nvPr userDrawn="1"/>
              </p:nvSpPr>
              <p:spPr>
                <a:xfrm>
                  <a:off x="1494147" y="674245"/>
                  <a:ext cx="2646878"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Computer</a:t>
                  </a:r>
                </a:p>
              </p:txBody>
            </p:sp>
            <p:sp>
              <p:nvSpPr>
                <p:cNvPr id="23" name="TextBox 22">
                  <a:extLst>
                    <a:ext uri="{FF2B5EF4-FFF2-40B4-BE49-F238E27FC236}">
                      <a16:creationId xmlns:a16="http://schemas.microsoft.com/office/drawing/2014/main" id="{C95C1B38-4DFC-D820-142C-780CD65F9816}"/>
                    </a:ext>
                  </a:extLst>
                </p:cNvPr>
                <p:cNvSpPr txBox="1"/>
                <p:nvPr userDrawn="1"/>
              </p:nvSpPr>
              <p:spPr>
                <a:xfrm>
                  <a:off x="1480811" y="1094623"/>
                  <a:ext cx="2082621"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Studies</a:t>
                  </a:r>
                </a:p>
              </p:txBody>
            </p:sp>
          </p:grpSp>
          <p:pic>
            <p:nvPicPr>
              <p:cNvPr id="5" name="Picture 4">
                <a:extLst>
                  <a:ext uri="{FF2B5EF4-FFF2-40B4-BE49-F238E27FC236}">
                    <a16:creationId xmlns:a16="http://schemas.microsoft.com/office/drawing/2014/main" id="{09E94620-AECE-83CD-CAD3-12BEFF030B92}"/>
                  </a:ext>
                </a:extLst>
              </p:cNvPr>
              <p:cNvPicPr>
                <a:picLocks noChangeAspect="1"/>
              </p:cNvPicPr>
              <p:nvPr userDrawn="1"/>
            </p:nvPicPr>
            <p:blipFill>
              <a:blip r:embed="rId2"/>
              <a:stretch>
                <a:fillRect/>
              </a:stretch>
            </p:blipFill>
            <p:spPr>
              <a:xfrm>
                <a:off x="275255" y="117125"/>
                <a:ext cx="1205556" cy="1740954"/>
              </a:xfrm>
              <a:prstGeom prst="rect">
                <a:avLst/>
              </a:prstGeom>
            </p:spPr>
          </p:pic>
        </p:grpSp>
      </p:gr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grpSp>
        <p:nvGrpSpPr>
          <p:cNvPr id="11" name="Group 10">
            <a:extLst>
              <a:ext uri="{FF2B5EF4-FFF2-40B4-BE49-F238E27FC236}">
                <a16:creationId xmlns:a16="http://schemas.microsoft.com/office/drawing/2014/main" id="{42944C5E-03C2-4C0E-3294-9EA8AA7D1108}"/>
              </a:ext>
            </a:extLst>
          </p:cNvPr>
          <p:cNvGrpSpPr/>
          <p:nvPr userDrawn="1"/>
        </p:nvGrpSpPr>
        <p:grpSpPr>
          <a:xfrm>
            <a:off x="-505758" y="136524"/>
            <a:ext cx="12420811" cy="7530657"/>
            <a:chOff x="-505758" y="136524"/>
            <a:chExt cx="12420811" cy="7530657"/>
          </a:xfrm>
        </p:grpSpPr>
        <p:sp>
          <p:nvSpPr>
            <p:cNvPr id="4" name="Flowchart: Decision 3">
              <a:extLst>
                <a:ext uri="{FF2B5EF4-FFF2-40B4-BE49-F238E27FC236}">
                  <a16:creationId xmlns:a16="http://schemas.microsoft.com/office/drawing/2014/main" id="{E31B5161-BC3E-13EC-2E54-EFADA7F4808C}"/>
                </a:ext>
              </a:extLst>
            </p:cNvPr>
            <p:cNvSpPr/>
            <p:nvPr userDrawn="1"/>
          </p:nvSpPr>
          <p:spPr>
            <a:xfrm rot="5400000" flipV="1">
              <a:off x="-497318" y="4929421"/>
              <a:ext cx="1645501" cy="166238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5" name="Flowchart: Decision 4">
              <a:extLst>
                <a:ext uri="{FF2B5EF4-FFF2-40B4-BE49-F238E27FC236}">
                  <a16:creationId xmlns:a16="http://schemas.microsoft.com/office/drawing/2014/main" id="{8AD8C93E-30B3-E825-821E-F1CD58D3D6F1}"/>
                </a:ext>
              </a:extLst>
            </p:cNvPr>
            <p:cNvSpPr/>
            <p:nvPr userDrawn="1"/>
          </p:nvSpPr>
          <p:spPr>
            <a:xfrm rot="5400000" flipV="1">
              <a:off x="232776" y="6013240"/>
              <a:ext cx="1645501" cy="166238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69513EC2-38C5-8C42-4337-72958EAFB2CC}"/>
                </a:ext>
              </a:extLst>
            </p:cNvPr>
            <p:cNvPicPr>
              <a:picLocks noChangeAspect="1"/>
            </p:cNvPicPr>
            <p:nvPr userDrawn="1"/>
          </p:nvPicPr>
          <p:blipFill>
            <a:blip r:embed="rId2"/>
            <a:stretch>
              <a:fillRect/>
            </a:stretch>
          </p:blipFill>
          <p:spPr>
            <a:xfrm>
              <a:off x="11027922" y="136524"/>
              <a:ext cx="887131" cy="1281114"/>
            </a:xfrm>
            <a:prstGeom prst="rect">
              <a:avLst/>
            </a:prstGeom>
          </p:spPr>
        </p:pic>
      </p:gr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355" y="3335565"/>
            <a:ext cx="9789394" cy="690585"/>
          </a:xfrm>
        </p:spPr>
        <p:txBody>
          <a:bodyPr anchor="t"/>
          <a:lstStyle>
            <a:lvl1pPr algn="l">
              <a:defRPr sz="4000" b="1" cap="a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1106355" y="2766771"/>
            <a:ext cx="9789394" cy="543449"/>
          </a:xfrm>
        </p:spPr>
        <p:txBody>
          <a:bodyPr anchor="b"/>
          <a:lstStyle>
            <a:lvl1pPr marL="0" indent="0">
              <a:buNone/>
              <a:defRPr sz="2000" i="1">
                <a:solidFill>
                  <a:schemeClr val="tx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grpSp>
        <p:nvGrpSpPr>
          <p:cNvPr id="22" name="Group 21">
            <a:extLst>
              <a:ext uri="{FF2B5EF4-FFF2-40B4-BE49-F238E27FC236}">
                <a16:creationId xmlns:a16="http://schemas.microsoft.com/office/drawing/2014/main" id="{C9057221-101B-7F3D-69DC-954C3C30FA0A}"/>
              </a:ext>
            </a:extLst>
          </p:cNvPr>
          <p:cNvGrpSpPr/>
          <p:nvPr userDrawn="1"/>
        </p:nvGrpSpPr>
        <p:grpSpPr>
          <a:xfrm>
            <a:off x="-784349" y="-90075"/>
            <a:ext cx="13722166" cy="7511836"/>
            <a:chOff x="-784349" y="-90075"/>
            <a:chExt cx="13722166" cy="7511836"/>
          </a:xfrm>
        </p:grpSpPr>
        <p:grpSp>
          <p:nvGrpSpPr>
            <p:cNvPr id="23" name="Group 22">
              <a:extLst>
                <a:ext uri="{FF2B5EF4-FFF2-40B4-BE49-F238E27FC236}">
                  <a16:creationId xmlns:a16="http://schemas.microsoft.com/office/drawing/2014/main" id="{077117F7-61C9-C973-0C92-4801CC385550}"/>
                </a:ext>
              </a:extLst>
            </p:cNvPr>
            <p:cNvGrpSpPr/>
            <p:nvPr userDrawn="1"/>
          </p:nvGrpSpPr>
          <p:grpSpPr>
            <a:xfrm rot="16200000" flipV="1">
              <a:off x="9221778" y="151177"/>
              <a:ext cx="3957292" cy="3474787"/>
              <a:chOff x="8986626" y="-275031"/>
              <a:chExt cx="3957292" cy="3389149"/>
            </a:xfrm>
          </p:grpSpPr>
          <p:sp>
            <p:nvSpPr>
              <p:cNvPr id="36" name="Flowchart: Decision 35">
                <a:extLst>
                  <a:ext uri="{FF2B5EF4-FFF2-40B4-BE49-F238E27FC236}">
                    <a16:creationId xmlns:a16="http://schemas.microsoft.com/office/drawing/2014/main" id="{8AC7B4A8-63DC-0070-53FC-F569DDECA594}"/>
                  </a:ext>
                </a:extLst>
              </p:cNvPr>
              <p:cNvSpPr/>
              <p:nvPr userDrawn="1"/>
            </p:nvSpPr>
            <p:spPr>
              <a:xfrm>
                <a:off x="8986626" y="95299"/>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7" name="Flowchart: Decision 36">
                <a:extLst>
                  <a:ext uri="{FF2B5EF4-FFF2-40B4-BE49-F238E27FC236}">
                    <a16:creationId xmlns:a16="http://schemas.microsoft.com/office/drawing/2014/main" id="{9AAD74DA-4E2B-73DA-2205-5B42FA77D2C8}"/>
                  </a:ext>
                </a:extLst>
              </p:cNvPr>
              <p:cNvSpPr/>
              <p:nvPr userDrawn="1"/>
            </p:nvSpPr>
            <p:spPr>
              <a:xfrm>
                <a:off x="10070445" y="80739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8" name="Flowchart: Decision 37">
                <a:extLst>
                  <a:ext uri="{FF2B5EF4-FFF2-40B4-BE49-F238E27FC236}">
                    <a16:creationId xmlns:a16="http://schemas.microsoft.com/office/drawing/2014/main" id="{D3D4E84E-C127-88F3-3E36-C36ABF59019D}"/>
                  </a:ext>
                </a:extLst>
              </p:cNvPr>
              <p:cNvSpPr/>
              <p:nvPr userDrawn="1"/>
            </p:nvSpPr>
            <p:spPr>
              <a:xfrm>
                <a:off x="10429973" y="-275031"/>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9" name="Flowchart: Decision 38">
                <a:extLst>
                  <a:ext uri="{FF2B5EF4-FFF2-40B4-BE49-F238E27FC236}">
                    <a16:creationId xmlns:a16="http://schemas.microsoft.com/office/drawing/2014/main" id="{0FBBA1E3-DA1B-5556-CA85-FA5BF5D9A4F7}"/>
                  </a:ext>
                </a:extLst>
              </p:cNvPr>
              <p:cNvSpPr/>
              <p:nvPr userDrawn="1"/>
            </p:nvSpPr>
            <p:spPr>
              <a:xfrm>
                <a:off x="11298417" y="26394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dirty="0"/>
              </a:p>
            </p:txBody>
          </p:sp>
          <p:sp>
            <p:nvSpPr>
              <p:cNvPr id="40" name="Flowchart: Decision 39">
                <a:extLst>
                  <a:ext uri="{FF2B5EF4-FFF2-40B4-BE49-F238E27FC236}">
                    <a16:creationId xmlns:a16="http://schemas.microsoft.com/office/drawing/2014/main" id="{BD297560-7B9F-D27D-6D90-8A21FFDCB9D9}"/>
                  </a:ext>
                </a:extLst>
              </p:cNvPr>
              <p:cNvSpPr/>
              <p:nvPr userDrawn="1"/>
            </p:nvSpPr>
            <p:spPr>
              <a:xfrm>
                <a:off x="11154264" y="1492707"/>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grpSp>
        <p:grpSp>
          <p:nvGrpSpPr>
            <p:cNvPr id="24" name="Group 23">
              <a:extLst>
                <a:ext uri="{FF2B5EF4-FFF2-40B4-BE49-F238E27FC236}">
                  <a16:creationId xmlns:a16="http://schemas.microsoft.com/office/drawing/2014/main" id="{42906622-E1B7-E53E-5480-81CC61FB6C38}"/>
                </a:ext>
              </a:extLst>
            </p:cNvPr>
            <p:cNvGrpSpPr/>
            <p:nvPr userDrawn="1"/>
          </p:nvGrpSpPr>
          <p:grpSpPr>
            <a:xfrm rot="5400000" flipV="1">
              <a:off x="-1025601" y="3705721"/>
              <a:ext cx="3957292" cy="3474787"/>
              <a:chOff x="8986626" y="-275031"/>
              <a:chExt cx="3957292" cy="3389149"/>
            </a:xfrm>
          </p:grpSpPr>
          <p:sp>
            <p:nvSpPr>
              <p:cNvPr id="31" name="Flowchart: Decision 30">
                <a:extLst>
                  <a:ext uri="{FF2B5EF4-FFF2-40B4-BE49-F238E27FC236}">
                    <a16:creationId xmlns:a16="http://schemas.microsoft.com/office/drawing/2014/main" id="{24D4CE79-63F1-466A-4EBF-5B4F055546FF}"/>
                  </a:ext>
                </a:extLst>
              </p:cNvPr>
              <p:cNvSpPr/>
              <p:nvPr userDrawn="1"/>
            </p:nvSpPr>
            <p:spPr>
              <a:xfrm>
                <a:off x="8986626" y="95299"/>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2" name="Flowchart: Decision 31">
                <a:extLst>
                  <a:ext uri="{FF2B5EF4-FFF2-40B4-BE49-F238E27FC236}">
                    <a16:creationId xmlns:a16="http://schemas.microsoft.com/office/drawing/2014/main" id="{0B745280-313B-2256-77DB-23627F033512}"/>
                  </a:ext>
                </a:extLst>
              </p:cNvPr>
              <p:cNvSpPr/>
              <p:nvPr userDrawn="1"/>
            </p:nvSpPr>
            <p:spPr>
              <a:xfrm>
                <a:off x="10070445" y="80739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3" name="Flowchart: Decision 32">
                <a:extLst>
                  <a:ext uri="{FF2B5EF4-FFF2-40B4-BE49-F238E27FC236}">
                    <a16:creationId xmlns:a16="http://schemas.microsoft.com/office/drawing/2014/main" id="{C2C1A1E8-7658-8E6B-9F49-911DDAAE445B}"/>
                  </a:ext>
                </a:extLst>
              </p:cNvPr>
              <p:cNvSpPr/>
              <p:nvPr userDrawn="1"/>
            </p:nvSpPr>
            <p:spPr>
              <a:xfrm>
                <a:off x="10429973" y="-275031"/>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4" name="Flowchart: Decision 33">
                <a:extLst>
                  <a:ext uri="{FF2B5EF4-FFF2-40B4-BE49-F238E27FC236}">
                    <a16:creationId xmlns:a16="http://schemas.microsoft.com/office/drawing/2014/main" id="{0E8D81F0-EB19-340F-2656-87CBF6C36899}"/>
                  </a:ext>
                </a:extLst>
              </p:cNvPr>
              <p:cNvSpPr/>
              <p:nvPr userDrawn="1"/>
            </p:nvSpPr>
            <p:spPr>
              <a:xfrm>
                <a:off x="11298417" y="263949"/>
                <a:ext cx="1645501" cy="162141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35" name="Flowchart: Decision 34">
                <a:extLst>
                  <a:ext uri="{FF2B5EF4-FFF2-40B4-BE49-F238E27FC236}">
                    <a16:creationId xmlns:a16="http://schemas.microsoft.com/office/drawing/2014/main" id="{B97F590D-94D2-B3D8-00EA-F8F81E4453C6}"/>
                  </a:ext>
                </a:extLst>
              </p:cNvPr>
              <p:cNvSpPr/>
              <p:nvPr userDrawn="1"/>
            </p:nvSpPr>
            <p:spPr>
              <a:xfrm>
                <a:off x="11154264" y="1492707"/>
                <a:ext cx="1645501" cy="162141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grpSp>
        <p:grpSp>
          <p:nvGrpSpPr>
            <p:cNvPr id="25" name="Group 24">
              <a:extLst>
                <a:ext uri="{FF2B5EF4-FFF2-40B4-BE49-F238E27FC236}">
                  <a16:creationId xmlns:a16="http://schemas.microsoft.com/office/drawing/2014/main" id="{8D3247AD-3A9F-B4C7-61EE-4B8D32ED97D7}"/>
                </a:ext>
              </a:extLst>
            </p:cNvPr>
            <p:cNvGrpSpPr/>
            <p:nvPr userDrawn="1"/>
          </p:nvGrpSpPr>
          <p:grpSpPr>
            <a:xfrm>
              <a:off x="275255" y="117125"/>
              <a:ext cx="3940857" cy="1740954"/>
              <a:chOff x="275255" y="117125"/>
              <a:chExt cx="3940857" cy="1740954"/>
            </a:xfrm>
          </p:grpSpPr>
          <p:grpSp>
            <p:nvGrpSpPr>
              <p:cNvPr id="26" name="Group 25">
                <a:extLst>
                  <a:ext uri="{FF2B5EF4-FFF2-40B4-BE49-F238E27FC236}">
                    <a16:creationId xmlns:a16="http://schemas.microsoft.com/office/drawing/2014/main" id="{1FB2A9DA-BAC0-2F3E-CD14-98F77D189012}"/>
                  </a:ext>
                </a:extLst>
              </p:cNvPr>
              <p:cNvGrpSpPr/>
              <p:nvPr userDrawn="1"/>
            </p:nvGrpSpPr>
            <p:grpSpPr>
              <a:xfrm>
                <a:off x="1480811" y="253867"/>
                <a:ext cx="2735301" cy="1487087"/>
                <a:chOff x="1480811" y="253867"/>
                <a:chExt cx="2735301" cy="1487087"/>
              </a:xfrm>
            </p:grpSpPr>
            <p:sp>
              <p:nvSpPr>
                <p:cNvPr id="28" name="TextBox 27">
                  <a:extLst>
                    <a:ext uri="{FF2B5EF4-FFF2-40B4-BE49-F238E27FC236}">
                      <a16:creationId xmlns:a16="http://schemas.microsoft.com/office/drawing/2014/main" id="{088B49D8-6A41-A1F6-0528-2C05D81CEDA1}"/>
                    </a:ext>
                  </a:extLst>
                </p:cNvPr>
                <p:cNvSpPr txBox="1"/>
                <p:nvPr userDrawn="1"/>
              </p:nvSpPr>
              <p:spPr>
                <a:xfrm>
                  <a:off x="1480811" y="253867"/>
                  <a:ext cx="2735301"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College of</a:t>
                  </a:r>
                </a:p>
              </p:txBody>
            </p:sp>
            <p:sp>
              <p:nvSpPr>
                <p:cNvPr id="29" name="TextBox 28">
                  <a:extLst>
                    <a:ext uri="{FF2B5EF4-FFF2-40B4-BE49-F238E27FC236}">
                      <a16:creationId xmlns:a16="http://schemas.microsoft.com/office/drawing/2014/main" id="{778FAA41-92E1-0E85-0CB4-5FE4846AC896}"/>
                    </a:ext>
                  </a:extLst>
                </p:cNvPr>
                <p:cNvSpPr txBox="1"/>
                <p:nvPr userDrawn="1"/>
              </p:nvSpPr>
              <p:spPr>
                <a:xfrm>
                  <a:off x="1494147" y="674245"/>
                  <a:ext cx="2646878"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Computer</a:t>
                  </a:r>
                </a:p>
              </p:txBody>
            </p:sp>
            <p:sp>
              <p:nvSpPr>
                <p:cNvPr id="30" name="TextBox 29">
                  <a:extLst>
                    <a:ext uri="{FF2B5EF4-FFF2-40B4-BE49-F238E27FC236}">
                      <a16:creationId xmlns:a16="http://schemas.microsoft.com/office/drawing/2014/main" id="{1C9432D3-E810-E985-806A-106ED730AAB1}"/>
                    </a:ext>
                  </a:extLst>
                </p:cNvPr>
                <p:cNvSpPr txBox="1"/>
                <p:nvPr userDrawn="1"/>
              </p:nvSpPr>
              <p:spPr>
                <a:xfrm>
                  <a:off x="1480811" y="1094623"/>
                  <a:ext cx="2082621" cy="646331"/>
                </a:xfrm>
                <a:prstGeom prst="rect">
                  <a:avLst/>
                </a:prstGeom>
                <a:noFill/>
              </p:spPr>
              <p:txBody>
                <a:bodyPr wrap="none" rtlCol="0">
                  <a:spAutoFit/>
                </a:bodyPr>
                <a:lstStyle/>
                <a:p>
                  <a:r>
                    <a:rPr lang="en-PH" sz="3600" b="1" dirty="0">
                      <a:solidFill>
                        <a:srgbClr val="7E0000"/>
                      </a:solidFill>
                      <a:latin typeface="Arial Black" panose="020B0A04020102020204" pitchFamily="34" charset="0"/>
                    </a:rPr>
                    <a:t>Studies</a:t>
                  </a:r>
                </a:p>
              </p:txBody>
            </p:sp>
          </p:grpSp>
          <p:pic>
            <p:nvPicPr>
              <p:cNvPr id="27" name="Picture 26">
                <a:extLst>
                  <a:ext uri="{FF2B5EF4-FFF2-40B4-BE49-F238E27FC236}">
                    <a16:creationId xmlns:a16="http://schemas.microsoft.com/office/drawing/2014/main" id="{D3AC8D2E-814D-1F8F-2843-C10358AA2D07}"/>
                  </a:ext>
                </a:extLst>
              </p:cNvPr>
              <p:cNvPicPr>
                <a:picLocks noChangeAspect="1"/>
              </p:cNvPicPr>
              <p:nvPr userDrawn="1"/>
            </p:nvPicPr>
            <p:blipFill>
              <a:blip r:embed="rId2"/>
              <a:stretch>
                <a:fillRect/>
              </a:stretch>
            </p:blipFill>
            <p:spPr>
              <a:xfrm>
                <a:off x="275255" y="117125"/>
                <a:ext cx="1205556" cy="1740954"/>
              </a:xfrm>
              <a:prstGeom prst="rect">
                <a:avLst/>
              </a:prstGeom>
            </p:spPr>
          </p:pic>
        </p:grpSp>
      </p:gr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atin typeface="Arial" panose="020B0604020202020204" pitchFamily="34" charset="0"/>
                <a:cs typeface="Arial" panose="020B0604020202020204" pitchFamily="34" charset="0"/>
              </a:defRPr>
            </a:lvl1pPr>
            <a:lvl2pPr>
              <a:defRPr sz="24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grpSp>
        <p:nvGrpSpPr>
          <p:cNvPr id="5" name="Group 4">
            <a:extLst>
              <a:ext uri="{FF2B5EF4-FFF2-40B4-BE49-F238E27FC236}">
                <a16:creationId xmlns:a16="http://schemas.microsoft.com/office/drawing/2014/main" id="{FDCB2888-CBAF-B20A-A983-16C37FDCC211}"/>
              </a:ext>
            </a:extLst>
          </p:cNvPr>
          <p:cNvGrpSpPr/>
          <p:nvPr userDrawn="1"/>
        </p:nvGrpSpPr>
        <p:grpSpPr>
          <a:xfrm>
            <a:off x="-505758" y="136524"/>
            <a:ext cx="12420811" cy="7530657"/>
            <a:chOff x="-505758" y="136524"/>
            <a:chExt cx="12420811" cy="7530657"/>
          </a:xfrm>
        </p:grpSpPr>
        <p:sp>
          <p:nvSpPr>
            <p:cNvPr id="6" name="Flowchart: Decision 5">
              <a:extLst>
                <a:ext uri="{FF2B5EF4-FFF2-40B4-BE49-F238E27FC236}">
                  <a16:creationId xmlns:a16="http://schemas.microsoft.com/office/drawing/2014/main" id="{2DFF9914-2259-8E91-9E73-AECC6979F35A}"/>
                </a:ext>
              </a:extLst>
            </p:cNvPr>
            <p:cNvSpPr/>
            <p:nvPr userDrawn="1"/>
          </p:nvSpPr>
          <p:spPr>
            <a:xfrm rot="5400000" flipV="1">
              <a:off x="-497318" y="4929421"/>
              <a:ext cx="1645501" cy="166238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8" name="Flowchart: Decision 7">
              <a:extLst>
                <a:ext uri="{FF2B5EF4-FFF2-40B4-BE49-F238E27FC236}">
                  <a16:creationId xmlns:a16="http://schemas.microsoft.com/office/drawing/2014/main" id="{BA731B45-DAC3-A58F-7848-AE10DB46856A}"/>
                </a:ext>
              </a:extLst>
            </p:cNvPr>
            <p:cNvSpPr/>
            <p:nvPr userDrawn="1"/>
          </p:nvSpPr>
          <p:spPr>
            <a:xfrm rot="5400000" flipV="1">
              <a:off x="232776" y="6013240"/>
              <a:ext cx="1645501" cy="166238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B1169C59-4CB1-FFA9-CF11-C814EB86099E}"/>
                </a:ext>
              </a:extLst>
            </p:cNvPr>
            <p:cNvPicPr>
              <a:picLocks noChangeAspect="1"/>
            </p:cNvPicPr>
            <p:nvPr userDrawn="1"/>
          </p:nvPicPr>
          <p:blipFill>
            <a:blip r:embed="rId2"/>
            <a:stretch>
              <a:fillRect/>
            </a:stretch>
          </p:blipFill>
          <p:spPr>
            <a:xfrm>
              <a:off x="11027922" y="136524"/>
              <a:ext cx="887131" cy="1281114"/>
            </a:xfrm>
            <a:prstGeom prst="rect">
              <a:avLst/>
            </a:prstGeom>
          </p:spPr>
        </p:pic>
      </p:gr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grpSp>
        <p:nvGrpSpPr>
          <p:cNvPr id="7" name="Group 6">
            <a:extLst>
              <a:ext uri="{FF2B5EF4-FFF2-40B4-BE49-F238E27FC236}">
                <a16:creationId xmlns:a16="http://schemas.microsoft.com/office/drawing/2014/main" id="{3BEB34AC-0F39-12E1-AA76-45FF4BE4684A}"/>
              </a:ext>
            </a:extLst>
          </p:cNvPr>
          <p:cNvGrpSpPr/>
          <p:nvPr userDrawn="1"/>
        </p:nvGrpSpPr>
        <p:grpSpPr>
          <a:xfrm>
            <a:off x="-505758" y="136524"/>
            <a:ext cx="12420811" cy="7530657"/>
            <a:chOff x="-505758" y="136524"/>
            <a:chExt cx="12420811" cy="7530657"/>
          </a:xfrm>
        </p:grpSpPr>
        <p:sp>
          <p:nvSpPr>
            <p:cNvPr id="8" name="Flowchart: Decision 7">
              <a:extLst>
                <a:ext uri="{FF2B5EF4-FFF2-40B4-BE49-F238E27FC236}">
                  <a16:creationId xmlns:a16="http://schemas.microsoft.com/office/drawing/2014/main" id="{7D867D2D-F5D6-11D7-9B81-4D0015F0A39C}"/>
                </a:ext>
              </a:extLst>
            </p:cNvPr>
            <p:cNvSpPr/>
            <p:nvPr userDrawn="1"/>
          </p:nvSpPr>
          <p:spPr>
            <a:xfrm rot="5400000" flipV="1">
              <a:off x="-497318" y="4929421"/>
              <a:ext cx="1645501" cy="166238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10" name="Flowchart: Decision 9">
              <a:extLst>
                <a:ext uri="{FF2B5EF4-FFF2-40B4-BE49-F238E27FC236}">
                  <a16:creationId xmlns:a16="http://schemas.microsoft.com/office/drawing/2014/main" id="{F7A6E35C-0CE9-9C5D-33D0-86505C86060E}"/>
                </a:ext>
              </a:extLst>
            </p:cNvPr>
            <p:cNvSpPr/>
            <p:nvPr userDrawn="1"/>
          </p:nvSpPr>
          <p:spPr>
            <a:xfrm rot="5400000" flipV="1">
              <a:off x="232776" y="6013240"/>
              <a:ext cx="1645501" cy="166238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pic>
          <p:nvPicPr>
            <p:cNvPr id="11" name="Picture 10">
              <a:extLst>
                <a:ext uri="{FF2B5EF4-FFF2-40B4-BE49-F238E27FC236}">
                  <a16:creationId xmlns:a16="http://schemas.microsoft.com/office/drawing/2014/main" id="{7EF71814-819D-61AA-CC68-4287C1DBF202}"/>
                </a:ext>
              </a:extLst>
            </p:cNvPr>
            <p:cNvPicPr>
              <a:picLocks noChangeAspect="1"/>
            </p:cNvPicPr>
            <p:nvPr userDrawn="1"/>
          </p:nvPicPr>
          <p:blipFill>
            <a:blip r:embed="rId2"/>
            <a:stretch>
              <a:fillRect/>
            </a:stretch>
          </p:blipFill>
          <p:spPr>
            <a:xfrm>
              <a:off x="11027922" y="136524"/>
              <a:ext cx="887131" cy="1281114"/>
            </a:xfrm>
            <a:prstGeom prst="rect">
              <a:avLst/>
            </a:prstGeom>
          </p:spPr>
        </p:pic>
      </p:gr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vl1pPr>
          </a:lstStyle>
          <a:p>
            <a:r>
              <a:rPr lang="en-US" dirty="0"/>
              <a:t>Click to edit Master title style</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grpSp>
        <p:nvGrpSpPr>
          <p:cNvPr id="3" name="Group 2">
            <a:extLst>
              <a:ext uri="{FF2B5EF4-FFF2-40B4-BE49-F238E27FC236}">
                <a16:creationId xmlns:a16="http://schemas.microsoft.com/office/drawing/2014/main" id="{8C03AE32-CF75-BEF9-79CE-8BA2FF2DF9C6}"/>
              </a:ext>
            </a:extLst>
          </p:cNvPr>
          <p:cNvGrpSpPr/>
          <p:nvPr userDrawn="1"/>
        </p:nvGrpSpPr>
        <p:grpSpPr>
          <a:xfrm>
            <a:off x="-505758" y="136524"/>
            <a:ext cx="12420811" cy="7530657"/>
            <a:chOff x="-505758" y="136524"/>
            <a:chExt cx="12420811" cy="7530657"/>
          </a:xfrm>
        </p:grpSpPr>
        <p:sp>
          <p:nvSpPr>
            <p:cNvPr id="4" name="Flowchart: Decision 3">
              <a:extLst>
                <a:ext uri="{FF2B5EF4-FFF2-40B4-BE49-F238E27FC236}">
                  <a16:creationId xmlns:a16="http://schemas.microsoft.com/office/drawing/2014/main" id="{5122C36A-9D9C-343C-7969-DB73B1E5F01A}"/>
                </a:ext>
              </a:extLst>
            </p:cNvPr>
            <p:cNvSpPr/>
            <p:nvPr userDrawn="1"/>
          </p:nvSpPr>
          <p:spPr>
            <a:xfrm rot="5400000" flipV="1">
              <a:off x="-497318" y="4929421"/>
              <a:ext cx="1645501" cy="166238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6" name="Flowchart: Decision 5">
              <a:extLst>
                <a:ext uri="{FF2B5EF4-FFF2-40B4-BE49-F238E27FC236}">
                  <a16:creationId xmlns:a16="http://schemas.microsoft.com/office/drawing/2014/main" id="{6E6BC1FA-D31D-7391-40FE-E90481F7091B}"/>
                </a:ext>
              </a:extLst>
            </p:cNvPr>
            <p:cNvSpPr/>
            <p:nvPr userDrawn="1"/>
          </p:nvSpPr>
          <p:spPr>
            <a:xfrm rot="5400000" flipV="1">
              <a:off x="232776" y="6013240"/>
              <a:ext cx="1645501" cy="166238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pic>
          <p:nvPicPr>
            <p:cNvPr id="7" name="Picture 6">
              <a:extLst>
                <a:ext uri="{FF2B5EF4-FFF2-40B4-BE49-F238E27FC236}">
                  <a16:creationId xmlns:a16="http://schemas.microsoft.com/office/drawing/2014/main" id="{8F590FBF-6380-FCFC-2B43-73185E397A34}"/>
                </a:ext>
              </a:extLst>
            </p:cNvPr>
            <p:cNvPicPr>
              <a:picLocks noChangeAspect="1"/>
            </p:cNvPicPr>
            <p:nvPr userDrawn="1"/>
          </p:nvPicPr>
          <p:blipFill>
            <a:blip r:embed="rId2"/>
            <a:stretch>
              <a:fillRect/>
            </a:stretch>
          </p:blipFill>
          <p:spPr>
            <a:xfrm>
              <a:off x="11027922" y="136524"/>
              <a:ext cx="887131" cy="1281114"/>
            </a:xfrm>
            <a:prstGeom prst="rect">
              <a:avLst/>
            </a:prstGeom>
          </p:spPr>
        </p:pic>
      </p:gr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grpSp>
        <p:nvGrpSpPr>
          <p:cNvPr id="4" name="Group 3">
            <a:extLst>
              <a:ext uri="{FF2B5EF4-FFF2-40B4-BE49-F238E27FC236}">
                <a16:creationId xmlns:a16="http://schemas.microsoft.com/office/drawing/2014/main" id="{F3884829-7688-51B0-9F78-A275E4520DC1}"/>
              </a:ext>
            </a:extLst>
          </p:cNvPr>
          <p:cNvGrpSpPr/>
          <p:nvPr userDrawn="1"/>
        </p:nvGrpSpPr>
        <p:grpSpPr>
          <a:xfrm>
            <a:off x="-505758" y="136524"/>
            <a:ext cx="12420811" cy="7530657"/>
            <a:chOff x="-505758" y="136524"/>
            <a:chExt cx="12420811" cy="7530657"/>
          </a:xfrm>
        </p:grpSpPr>
        <p:sp>
          <p:nvSpPr>
            <p:cNvPr id="5" name="Flowchart: Decision 4">
              <a:extLst>
                <a:ext uri="{FF2B5EF4-FFF2-40B4-BE49-F238E27FC236}">
                  <a16:creationId xmlns:a16="http://schemas.microsoft.com/office/drawing/2014/main" id="{7C89D3D3-1C31-6926-F563-5319DB3086AA}"/>
                </a:ext>
              </a:extLst>
            </p:cNvPr>
            <p:cNvSpPr/>
            <p:nvPr userDrawn="1"/>
          </p:nvSpPr>
          <p:spPr>
            <a:xfrm rot="5400000" flipV="1">
              <a:off x="-497318" y="4929421"/>
              <a:ext cx="1645501" cy="1662381"/>
            </a:xfrm>
            <a:prstGeom prst="flowChartDecision">
              <a:avLst/>
            </a:prstGeom>
            <a:solidFill>
              <a:srgbClr val="7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7" name="Flowchart: Decision 6">
              <a:extLst>
                <a:ext uri="{FF2B5EF4-FFF2-40B4-BE49-F238E27FC236}">
                  <a16:creationId xmlns:a16="http://schemas.microsoft.com/office/drawing/2014/main" id="{4DE7B567-6C36-7819-E45D-078636DA42A5}"/>
                </a:ext>
              </a:extLst>
            </p:cNvPr>
            <p:cNvSpPr/>
            <p:nvPr userDrawn="1"/>
          </p:nvSpPr>
          <p:spPr>
            <a:xfrm rot="5400000" flipV="1">
              <a:off x="232776" y="6013240"/>
              <a:ext cx="1645501" cy="1662381"/>
            </a:xfrm>
            <a:prstGeom prst="flowChartDecision">
              <a:avLst/>
            </a:prstGeom>
            <a:solidFill>
              <a:schemeClr val="bg1"/>
            </a:solidFill>
            <a:ln>
              <a:gradFill>
                <a:gsLst>
                  <a:gs pos="30000">
                    <a:srgbClr val="7E0000"/>
                  </a:gs>
                  <a:gs pos="20000">
                    <a:schemeClr val="bg1"/>
                  </a:gs>
                </a:gsLst>
                <a:lin ang="54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pic>
          <p:nvPicPr>
            <p:cNvPr id="8" name="Picture 7">
              <a:extLst>
                <a:ext uri="{FF2B5EF4-FFF2-40B4-BE49-F238E27FC236}">
                  <a16:creationId xmlns:a16="http://schemas.microsoft.com/office/drawing/2014/main" id="{8DFD7033-F011-0D3B-370D-11753DCE692E}"/>
                </a:ext>
              </a:extLst>
            </p:cNvPr>
            <p:cNvPicPr>
              <a:picLocks noChangeAspect="1"/>
            </p:cNvPicPr>
            <p:nvPr userDrawn="1"/>
          </p:nvPicPr>
          <p:blipFill>
            <a:blip r:embed="rId2"/>
            <a:stretch>
              <a:fillRect/>
            </a:stretch>
          </p:blipFill>
          <p:spPr>
            <a:xfrm>
              <a:off x="11027922" y="136524"/>
              <a:ext cx="887131" cy="1281114"/>
            </a:xfrm>
            <a:prstGeom prst="rect">
              <a:avLst/>
            </a:prstGeom>
          </p:spPr>
        </p:pic>
      </p:grpSp>
    </p:spTree>
    <p:extLst>
      <p:ext uri="{BB962C8B-B14F-4D97-AF65-F5344CB8AC3E}">
        <p14:creationId xmlns:p14="http://schemas.microsoft.com/office/powerpoint/2010/main" val="2910927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8" r:id="rId7"/>
  </p:sldLayoutIdLst>
  <p:txStyles>
    <p:titleStyle>
      <a:lvl1pPr algn="l" defTabSz="457200" rtl="0" eaLnBrk="1" latinLnBrk="0" hangingPunct="1">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01_0.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16_93DCAF6F.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2_0.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17_3BF66E3A.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D_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23_5CA87A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A_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B_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E_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E_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0F_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8217-B866-9C7A-8693-AA7C5DE654C0}"/>
              </a:ext>
            </a:extLst>
          </p:cNvPr>
          <p:cNvSpPr>
            <a:spLocks noGrp="1"/>
          </p:cNvSpPr>
          <p:nvPr>
            <p:ph type="ctrTitle"/>
          </p:nvPr>
        </p:nvSpPr>
        <p:spPr>
          <a:xfrm>
            <a:off x="1160980" y="2693987"/>
            <a:ext cx="9431676" cy="1470025"/>
          </a:xfrm>
        </p:spPr>
        <p:txBody>
          <a:bodyPr/>
          <a:lstStyle/>
          <a:p>
            <a:r>
              <a:rPr lang="en-PH" dirty="0"/>
              <a:t>Project Title </a:t>
            </a:r>
          </a:p>
        </p:txBody>
      </p:sp>
      <p:sp>
        <p:nvSpPr>
          <p:cNvPr id="3" name="Subtitle 2">
            <a:extLst>
              <a:ext uri="{FF2B5EF4-FFF2-40B4-BE49-F238E27FC236}">
                <a16:creationId xmlns:a16="http://schemas.microsoft.com/office/drawing/2014/main" id="{E3B41F35-98C4-3426-C562-D55EBDF86BF2}"/>
              </a:ext>
            </a:extLst>
          </p:cNvPr>
          <p:cNvSpPr>
            <a:spLocks noGrp="1"/>
          </p:cNvSpPr>
          <p:nvPr>
            <p:ph type="subTitle" idx="1"/>
          </p:nvPr>
        </p:nvSpPr>
        <p:spPr>
          <a:xfrm>
            <a:off x="1828800" y="3979819"/>
            <a:ext cx="8534400" cy="1146985"/>
          </a:xfrm>
        </p:spPr>
        <p:txBody>
          <a:bodyPr>
            <a:normAutofit fontScale="55000" lnSpcReduction="20000"/>
          </a:bodyPr>
          <a:lstStyle/>
          <a:p>
            <a:r>
              <a:rPr lang="en-PH" dirty="0"/>
              <a:t>Student Name 1</a:t>
            </a:r>
          </a:p>
          <a:p>
            <a:r>
              <a:rPr lang="en-PH" dirty="0"/>
              <a:t>Student Name 2</a:t>
            </a:r>
          </a:p>
          <a:p>
            <a:r>
              <a:rPr lang="en-PH" dirty="0"/>
              <a:t>Student Name 3</a:t>
            </a:r>
          </a:p>
          <a:p>
            <a:r>
              <a:rPr lang="en-PH" dirty="0"/>
              <a:t>Student Name 4</a:t>
            </a:r>
          </a:p>
        </p:txBody>
      </p:sp>
    </p:spTree>
    <p:extLst>
      <p:ext uri="{BB962C8B-B14F-4D97-AF65-F5344CB8AC3E}">
        <p14:creationId xmlns:p14="http://schemas.microsoft.com/office/powerpoint/2010/main" val="2877717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4294967295"/>
          </p:nvPr>
        </p:nvSpPr>
        <p:spPr>
          <a:xfrm>
            <a:off x="609600" y="1600201"/>
            <a:ext cx="10972800" cy="4525963"/>
          </a:xfrm>
        </p:spPr>
        <p:txBody>
          <a:bodyPr/>
          <a:lstStyle/>
          <a:p>
            <a:endParaRPr dirty="0"/>
          </a:p>
        </p:txBody>
      </p:sp>
    </p:spTree>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F5B3-BBF3-2159-C618-DC811D774619}"/>
              </a:ext>
            </a:extLst>
          </p:cNvPr>
          <p:cNvSpPr>
            <a:spLocks noGrp="1"/>
          </p:cNvSpPr>
          <p:nvPr>
            <p:ph type="title"/>
          </p:nvPr>
        </p:nvSpPr>
        <p:spPr/>
        <p:txBody>
          <a:bodyPr/>
          <a:lstStyle/>
          <a:p>
            <a:r>
              <a:rPr lang="en-PH" dirty="0"/>
              <a:t>Project Team and Required Tasks</a:t>
            </a:r>
          </a:p>
        </p:txBody>
      </p:sp>
      <p:sp>
        <p:nvSpPr>
          <p:cNvPr id="3" name="Content Placeholder 2">
            <a:extLst>
              <a:ext uri="{FF2B5EF4-FFF2-40B4-BE49-F238E27FC236}">
                <a16:creationId xmlns:a16="http://schemas.microsoft.com/office/drawing/2014/main" id="{667B2897-25B9-5DD4-8AA6-47BD0F9F0397}"/>
              </a:ext>
            </a:extLst>
          </p:cNvPr>
          <p:cNvSpPr>
            <a:spLocks noGrp="1"/>
          </p:cNvSpPr>
          <p:nvPr>
            <p:ph idx="1"/>
          </p:nvPr>
        </p:nvSpPr>
        <p:spPr/>
        <p:txBody>
          <a:bodyPr/>
          <a:lstStyle/>
          <a:p>
            <a:endParaRPr lang="en-PH" dirty="0"/>
          </a:p>
        </p:txBody>
      </p:sp>
    </p:spTree>
    <p:extLst>
      <p:ext uri="{BB962C8B-B14F-4D97-AF65-F5344CB8AC3E}">
        <p14:creationId xmlns:p14="http://schemas.microsoft.com/office/powerpoint/2010/main" val="248071358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Current Business and</a:t>
            </a:r>
            <a:br>
              <a:rPr lang="en-PH" dirty="0"/>
            </a:br>
            <a:r>
              <a:rPr lang="en-PH" dirty="0"/>
              <a:t>Technical Situations</a:t>
            </a:r>
            <a:endParaRPr dirty="0"/>
          </a:p>
        </p:txBody>
      </p:sp>
      <p:sp>
        <p:nvSpPr>
          <p:cNvPr id="3" name="Content Placeholder 2"/>
          <p:cNvSpPr>
            <a:spLocks noGrp="1"/>
          </p:cNvSpPr>
          <p:nvPr>
            <p:ph idx="4294967295"/>
          </p:nvPr>
        </p:nvSpPr>
        <p:spPr>
          <a:xfrm>
            <a:off x="609600" y="1600201"/>
            <a:ext cx="10972800" cy="4525963"/>
          </a:xfrm>
        </p:spPr>
        <p:txBody>
          <a:bodyPr/>
          <a:lstStyle/>
          <a:p>
            <a:endParaRPr dirty="0"/>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Proposed Current and</a:t>
            </a:r>
            <a:br>
              <a:rPr lang="en-PH" dirty="0"/>
            </a:br>
            <a:r>
              <a:rPr lang="en-PH" dirty="0"/>
              <a:t>Technical Situations</a:t>
            </a:r>
            <a:endParaRPr dirty="0"/>
          </a:p>
        </p:txBody>
      </p:sp>
      <p:sp>
        <p:nvSpPr>
          <p:cNvPr id="3" name="Content Placeholder 2"/>
          <p:cNvSpPr>
            <a:spLocks noGrp="1"/>
          </p:cNvSpPr>
          <p:nvPr>
            <p:ph idx="4294967295"/>
          </p:nvPr>
        </p:nvSpPr>
        <p:spPr>
          <a:xfrm>
            <a:off x="609600" y="1600201"/>
            <a:ext cx="10972800" cy="4525963"/>
          </a:xfrm>
        </p:spPr>
        <p:txBody>
          <a:bodyPr/>
          <a:lstStyle/>
          <a:p>
            <a:endParaRPr dirty="0"/>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4294967295"/>
          </p:nvPr>
        </p:nvSpPr>
        <p:spPr>
          <a:xfrm>
            <a:off x="609600" y="1600201"/>
            <a:ext cx="10972800" cy="4525963"/>
          </a:xfrm>
        </p:spPr>
        <p:txBody>
          <a:bodyPr/>
          <a:lstStyle/>
          <a:p>
            <a:r>
              <a:rPr dirty="0"/>
              <a:t>General </a:t>
            </a:r>
            <a:r>
              <a:rPr lang="en-PH" dirty="0"/>
              <a:t>Objective</a:t>
            </a:r>
          </a:p>
          <a:p>
            <a:pPr lvl="1"/>
            <a:r>
              <a:rPr lang="en-PH" dirty="0"/>
              <a:t>Type here</a:t>
            </a:r>
            <a:endParaRPr dirty="0"/>
          </a:p>
          <a:p>
            <a:r>
              <a:rPr dirty="0"/>
              <a:t>Specific </a:t>
            </a:r>
            <a:r>
              <a:rPr lang="en-PH" dirty="0"/>
              <a:t>Objectives</a:t>
            </a:r>
          </a:p>
          <a:p>
            <a:pPr lvl="1"/>
            <a:r>
              <a:rPr lang="en-PH" dirty="0"/>
              <a:t>Type 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and Impact</a:t>
            </a:r>
          </a:p>
        </p:txBody>
      </p:sp>
      <p:graphicFrame>
        <p:nvGraphicFramePr>
          <p:cNvPr id="4" name="Table 3">
            <a:extLst>
              <a:ext uri="{FF2B5EF4-FFF2-40B4-BE49-F238E27FC236}">
                <a16:creationId xmlns:a16="http://schemas.microsoft.com/office/drawing/2014/main" id="{AEE60638-E287-1C3C-A72C-308573D2E054}"/>
              </a:ext>
            </a:extLst>
          </p:cNvPr>
          <p:cNvGraphicFramePr>
            <a:graphicFrameLocks noGrp="1"/>
          </p:cNvGraphicFramePr>
          <p:nvPr>
            <p:extLst>
              <p:ext uri="{D42A27DB-BD31-4B8C-83A1-F6EECF244321}">
                <p14:modId xmlns:p14="http://schemas.microsoft.com/office/powerpoint/2010/main" val="1895357543"/>
              </p:ext>
            </p:extLst>
          </p:nvPr>
        </p:nvGraphicFramePr>
        <p:xfrm>
          <a:off x="609600" y="1408613"/>
          <a:ext cx="10085798" cy="2595880"/>
        </p:xfrm>
        <a:graphic>
          <a:graphicData uri="http://schemas.openxmlformats.org/drawingml/2006/table">
            <a:tbl>
              <a:tblPr firstRow="1" bandRow="1">
                <a:tableStyleId>{5940675A-B579-460E-94D1-54222C63F5DA}</a:tableStyleId>
              </a:tblPr>
              <a:tblGrid>
                <a:gridCol w="2955533">
                  <a:extLst>
                    <a:ext uri="{9D8B030D-6E8A-4147-A177-3AD203B41FA5}">
                      <a16:colId xmlns:a16="http://schemas.microsoft.com/office/drawing/2014/main" val="2973197974"/>
                    </a:ext>
                  </a:extLst>
                </a:gridCol>
                <a:gridCol w="7130265">
                  <a:extLst>
                    <a:ext uri="{9D8B030D-6E8A-4147-A177-3AD203B41FA5}">
                      <a16:colId xmlns:a16="http://schemas.microsoft.com/office/drawing/2014/main" val="211944209"/>
                    </a:ext>
                  </a:extLst>
                </a:gridCol>
              </a:tblGrid>
              <a:tr h="370840">
                <a:tc>
                  <a:txBody>
                    <a:bodyPr/>
                    <a:lstStyle/>
                    <a:p>
                      <a:pPr algn="ctr"/>
                      <a:r>
                        <a:rPr lang="en-PH" dirty="0">
                          <a:solidFill>
                            <a:schemeClr val="bg1"/>
                          </a:solidFill>
                          <a:latin typeface="Arial" panose="020B0604020202020204" pitchFamily="34" charset="0"/>
                          <a:cs typeface="Arial" panose="020B0604020202020204" pitchFamily="34" charset="0"/>
                        </a:rPr>
                        <a:t>Key Users</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Impact and Benefits</a:t>
                      </a:r>
                    </a:p>
                  </a:txBody>
                  <a:tcPr anchor="ctr">
                    <a:solidFill>
                      <a:srgbClr val="7E0000"/>
                    </a:solidFill>
                  </a:tcPr>
                </a:tc>
                <a:extLst>
                  <a:ext uri="{0D108BD9-81ED-4DB2-BD59-A6C34878D82A}">
                    <a16:rowId xmlns:a16="http://schemas.microsoft.com/office/drawing/2014/main" val="38945547"/>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6891160"/>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49190214"/>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14983783"/>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90192759"/>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01922941"/>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775175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Project Milestones</a:t>
            </a:r>
            <a:endParaRPr dirty="0"/>
          </a:p>
        </p:txBody>
      </p:sp>
      <p:graphicFrame>
        <p:nvGraphicFramePr>
          <p:cNvPr id="4" name="Table 3">
            <a:extLst>
              <a:ext uri="{FF2B5EF4-FFF2-40B4-BE49-F238E27FC236}">
                <a16:creationId xmlns:a16="http://schemas.microsoft.com/office/drawing/2014/main" id="{23A6BF6C-0B19-0CD1-E8EA-A73DED5EDB48}"/>
              </a:ext>
            </a:extLst>
          </p:cNvPr>
          <p:cNvGraphicFramePr>
            <a:graphicFrameLocks noGrp="1"/>
          </p:cNvGraphicFramePr>
          <p:nvPr>
            <p:extLst>
              <p:ext uri="{D42A27DB-BD31-4B8C-83A1-F6EECF244321}">
                <p14:modId xmlns:p14="http://schemas.microsoft.com/office/powerpoint/2010/main" val="1699405834"/>
              </p:ext>
            </p:extLst>
          </p:nvPr>
        </p:nvGraphicFramePr>
        <p:xfrm>
          <a:off x="609600" y="1429357"/>
          <a:ext cx="10239909" cy="2595880"/>
        </p:xfrm>
        <a:graphic>
          <a:graphicData uri="http://schemas.openxmlformats.org/drawingml/2006/table">
            <a:tbl>
              <a:tblPr firstRow="1" bandRow="1">
                <a:tableStyleId>{5940675A-B579-460E-94D1-54222C63F5DA}</a:tableStyleId>
              </a:tblPr>
              <a:tblGrid>
                <a:gridCol w="2164422">
                  <a:extLst>
                    <a:ext uri="{9D8B030D-6E8A-4147-A177-3AD203B41FA5}">
                      <a16:colId xmlns:a16="http://schemas.microsoft.com/office/drawing/2014/main" val="2973197974"/>
                    </a:ext>
                  </a:extLst>
                </a:gridCol>
                <a:gridCol w="4662184">
                  <a:extLst>
                    <a:ext uri="{9D8B030D-6E8A-4147-A177-3AD203B41FA5}">
                      <a16:colId xmlns:a16="http://schemas.microsoft.com/office/drawing/2014/main" val="211944209"/>
                    </a:ext>
                  </a:extLst>
                </a:gridCol>
                <a:gridCol w="3413303">
                  <a:extLst>
                    <a:ext uri="{9D8B030D-6E8A-4147-A177-3AD203B41FA5}">
                      <a16:colId xmlns:a16="http://schemas.microsoft.com/office/drawing/2014/main" val="640626244"/>
                    </a:ext>
                  </a:extLst>
                </a:gridCol>
              </a:tblGrid>
              <a:tr h="370840">
                <a:tc>
                  <a:txBody>
                    <a:bodyPr/>
                    <a:lstStyle/>
                    <a:p>
                      <a:pPr algn="ctr"/>
                      <a:r>
                        <a:rPr lang="en-PH" dirty="0">
                          <a:solidFill>
                            <a:schemeClr val="bg1"/>
                          </a:solidFill>
                          <a:latin typeface="Arial" panose="020B0604020202020204" pitchFamily="34" charset="0"/>
                          <a:cs typeface="Arial" panose="020B0604020202020204" pitchFamily="34" charset="0"/>
                        </a:rPr>
                        <a:t>Date</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Activity</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Status</a:t>
                      </a:r>
                    </a:p>
                  </a:txBody>
                  <a:tcPr anchor="ctr">
                    <a:solidFill>
                      <a:srgbClr val="7E0000"/>
                    </a:solidFill>
                  </a:tcPr>
                </a:tc>
                <a:extLst>
                  <a:ext uri="{0D108BD9-81ED-4DB2-BD59-A6C34878D82A}">
                    <a16:rowId xmlns:a16="http://schemas.microsoft.com/office/drawing/2014/main" val="38945547"/>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6891160"/>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49190214"/>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14983783"/>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90192759"/>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01922941"/>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775175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F327-EFEA-C9C1-5659-C8E7C9659C28}"/>
              </a:ext>
            </a:extLst>
          </p:cNvPr>
          <p:cNvSpPr>
            <a:spLocks noGrp="1"/>
          </p:cNvSpPr>
          <p:nvPr>
            <p:ph type="title"/>
          </p:nvPr>
        </p:nvSpPr>
        <p:spPr/>
        <p:txBody>
          <a:bodyPr/>
          <a:lstStyle/>
          <a:p>
            <a:r>
              <a:rPr lang="en-PH" dirty="0"/>
              <a:t>Constraints Analysis</a:t>
            </a:r>
          </a:p>
        </p:txBody>
      </p:sp>
      <p:graphicFrame>
        <p:nvGraphicFramePr>
          <p:cNvPr id="5" name="Table 4">
            <a:extLst>
              <a:ext uri="{FF2B5EF4-FFF2-40B4-BE49-F238E27FC236}">
                <a16:creationId xmlns:a16="http://schemas.microsoft.com/office/drawing/2014/main" id="{A88ECBCF-C878-EFDE-73C5-1AC756708160}"/>
              </a:ext>
            </a:extLst>
          </p:cNvPr>
          <p:cNvGraphicFramePr>
            <a:graphicFrameLocks noGrp="1"/>
          </p:cNvGraphicFramePr>
          <p:nvPr>
            <p:extLst>
              <p:ext uri="{D42A27DB-BD31-4B8C-83A1-F6EECF244321}">
                <p14:modId xmlns:p14="http://schemas.microsoft.com/office/powerpoint/2010/main" val="404421291"/>
              </p:ext>
            </p:extLst>
          </p:nvPr>
        </p:nvGraphicFramePr>
        <p:xfrm>
          <a:off x="609600" y="1417638"/>
          <a:ext cx="10085798" cy="1483360"/>
        </p:xfrm>
        <a:graphic>
          <a:graphicData uri="http://schemas.openxmlformats.org/drawingml/2006/table">
            <a:tbl>
              <a:tblPr firstRow="1" bandRow="1">
                <a:tableStyleId>{5940675A-B579-460E-94D1-54222C63F5DA}</a:tableStyleId>
              </a:tblPr>
              <a:tblGrid>
                <a:gridCol w="2955533">
                  <a:extLst>
                    <a:ext uri="{9D8B030D-6E8A-4147-A177-3AD203B41FA5}">
                      <a16:colId xmlns:a16="http://schemas.microsoft.com/office/drawing/2014/main" val="2973197974"/>
                    </a:ext>
                  </a:extLst>
                </a:gridCol>
                <a:gridCol w="7130265">
                  <a:extLst>
                    <a:ext uri="{9D8B030D-6E8A-4147-A177-3AD203B41FA5}">
                      <a16:colId xmlns:a16="http://schemas.microsoft.com/office/drawing/2014/main" val="211944209"/>
                    </a:ext>
                  </a:extLst>
                </a:gridCol>
              </a:tblGrid>
              <a:tr h="370840">
                <a:tc>
                  <a:txBody>
                    <a:bodyPr/>
                    <a:lstStyle/>
                    <a:p>
                      <a:pPr algn="ctr"/>
                      <a:r>
                        <a:rPr lang="en-PH" dirty="0">
                          <a:solidFill>
                            <a:schemeClr val="bg1"/>
                          </a:solidFill>
                          <a:latin typeface="Arial" panose="020B0604020202020204" pitchFamily="34" charset="0"/>
                          <a:cs typeface="Arial" panose="020B0604020202020204" pitchFamily="34" charset="0"/>
                        </a:rPr>
                        <a:t>Problems Encountered</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Resolutions</a:t>
                      </a:r>
                    </a:p>
                  </a:txBody>
                  <a:tcPr anchor="ctr">
                    <a:solidFill>
                      <a:srgbClr val="7E0000"/>
                    </a:solidFill>
                  </a:tcPr>
                </a:tc>
                <a:extLst>
                  <a:ext uri="{0D108BD9-81ED-4DB2-BD59-A6C34878D82A}">
                    <a16:rowId xmlns:a16="http://schemas.microsoft.com/office/drawing/2014/main" val="38945547"/>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6891160"/>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49190214"/>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14983783"/>
                  </a:ext>
                </a:extLst>
              </a:tr>
            </a:tbl>
          </a:graphicData>
        </a:graphic>
      </p:graphicFrame>
    </p:spTree>
    <p:extLst>
      <p:ext uri="{BB962C8B-B14F-4D97-AF65-F5344CB8AC3E}">
        <p14:creationId xmlns:p14="http://schemas.microsoft.com/office/powerpoint/2010/main" val="1006005818"/>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Features</a:t>
            </a:r>
          </a:p>
        </p:txBody>
      </p:sp>
      <p:graphicFrame>
        <p:nvGraphicFramePr>
          <p:cNvPr id="4" name="Table 3">
            <a:extLst>
              <a:ext uri="{FF2B5EF4-FFF2-40B4-BE49-F238E27FC236}">
                <a16:creationId xmlns:a16="http://schemas.microsoft.com/office/drawing/2014/main" id="{2AB048A8-603E-3CE7-C28A-07A48357F3C7}"/>
              </a:ext>
            </a:extLst>
          </p:cNvPr>
          <p:cNvGraphicFramePr>
            <a:graphicFrameLocks noGrp="1"/>
          </p:cNvGraphicFramePr>
          <p:nvPr>
            <p:extLst>
              <p:ext uri="{D42A27DB-BD31-4B8C-83A1-F6EECF244321}">
                <p14:modId xmlns:p14="http://schemas.microsoft.com/office/powerpoint/2010/main" val="3666905930"/>
              </p:ext>
            </p:extLst>
          </p:nvPr>
        </p:nvGraphicFramePr>
        <p:xfrm>
          <a:off x="609599" y="1402080"/>
          <a:ext cx="10458893" cy="2021840"/>
        </p:xfrm>
        <a:graphic>
          <a:graphicData uri="http://schemas.openxmlformats.org/drawingml/2006/table">
            <a:tbl>
              <a:tblPr firstRow="1" bandRow="1">
                <a:tableStyleId>{5940675A-B579-460E-94D1-54222C63F5DA}</a:tableStyleId>
              </a:tblPr>
              <a:tblGrid>
                <a:gridCol w="3137379">
                  <a:extLst>
                    <a:ext uri="{9D8B030D-6E8A-4147-A177-3AD203B41FA5}">
                      <a16:colId xmlns:a16="http://schemas.microsoft.com/office/drawing/2014/main" val="2973197974"/>
                    </a:ext>
                  </a:extLst>
                </a:gridCol>
                <a:gridCol w="4684641">
                  <a:extLst>
                    <a:ext uri="{9D8B030D-6E8A-4147-A177-3AD203B41FA5}">
                      <a16:colId xmlns:a16="http://schemas.microsoft.com/office/drawing/2014/main" val="211944209"/>
                    </a:ext>
                  </a:extLst>
                </a:gridCol>
                <a:gridCol w="2636873">
                  <a:extLst>
                    <a:ext uri="{9D8B030D-6E8A-4147-A177-3AD203B41FA5}">
                      <a16:colId xmlns:a16="http://schemas.microsoft.com/office/drawing/2014/main" val="2122742016"/>
                    </a:ext>
                  </a:extLst>
                </a:gridCol>
              </a:tblGrid>
              <a:tr h="370840">
                <a:tc>
                  <a:txBody>
                    <a:bodyPr/>
                    <a:lstStyle/>
                    <a:p>
                      <a:pPr algn="ctr"/>
                      <a:r>
                        <a:rPr lang="en-PH" dirty="0">
                          <a:solidFill>
                            <a:schemeClr val="bg1"/>
                          </a:solidFill>
                          <a:latin typeface="Arial" panose="020B0604020202020204" pitchFamily="34" charset="0"/>
                          <a:cs typeface="Arial" panose="020B0604020202020204" pitchFamily="34" charset="0"/>
                        </a:rPr>
                        <a:t>Module</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Description</a:t>
                      </a:r>
                    </a:p>
                  </a:txBody>
                  <a:tcPr anchor="ctr">
                    <a:solidFill>
                      <a:srgbClr val="7E0000"/>
                    </a:solidFill>
                  </a:tcPr>
                </a:tc>
                <a:tc>
                  <a:txBody>
                    <a:bodyPr/>
                    <a:lstStyle/>
                    <a:p>
                      <a:pPr algn="ctr"/>
                      <a:r>
                        <a:rPr lang="en-PH" dirty="0">
                          <a:solidFill>
                            <a:schemeClr val="bg1"/>
                          </a:solidFill>
                          <a:latin typeface="Arial" panose="020B0604020202020204" pitchFamily="34" charset="0"/>
                          <a:cs typeface="Arial" panose="020B0604020202020204" pitchFamily="34" charset="0"/>
                        </a:rPr>
                        <a:t>Intended Users per Module</a:t>
                      </a:r>
                    </a:p>
                  </a:txBody>
                  <a:tcPr anchor="ctr">
                    <a:solidFill>
                      <a:srgbClr val="7E0000"/>
                    </a:solidFill>
                  </a:tcPr>
                </a:tc>
                <a:extLst>
                  <a:ext uri="{0D108BD9-81ED-4DB2-BD59-A6C34878D82A}">
                    <a16:rowId xmlns:a16="http://schemas.microsoft.com/office/drawing/2014/main" val="38945547"/>
                  </a:ext>
                </a:extLst>
              </a:tr>
              <a:tr h="370840">
                <a:tc>
                  <a:txBody>
                    <a:bodyPr/>
                    <a:lstStyle/>
                    <a:p>
                      <a:r>
                        <a:rPr lang="en-PH" dirty="0">
                          <a:latin typeface="Arial" panose="020B0604020202020204" pitchFamily="34" charset="0"/>
                          <a:cs typeface="Arial" panose="020B0604020202020204" pitchFamily="34" charset="0"/>
                        </a:rPr>
                        <a:t>Feature 1</a:t>
                      </a: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689116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PH"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Feature 2</a:t>
                      </a: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49190214"/>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PH"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Feature 3 (AI and/or Data Analytics)</a:t>
                      </a: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14983783"/>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0767-2576-5ABA-F666-6AA57E3AD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75FB2-801D-BC37-4FA2-10679FE44C59}"/>
              </a:ext>
            </a:extLst>
          </p:cNvPr>
          <p:cNvSpPr>
            <a:spLocks noGrp="1"/>
          </p:cNvSpPr>
          <p:nvPr>
            <p:ph type="title"/>
          </p:nvPr>
        </p:nvSpPr>
        <p:spPr/>
        <p:txBody>
          <a:bodyPr/>
          <a:lstStyle/>
          <a:p>
            <a:r>
              <a:rPr lang="en-PH" dirty="0"/>
              <a:t>AI / Data Analytics Utilization</a:t>
            </a:r>
            <a:endParaRPr dirty="0"/>
          </a:p>
        </p:txBody>
      </p:sp>
      <p:sp>
        <p:nvSpPr>
          <p:cNvPr id="3" name="Content Placeholder 2">
            <a:extLst>
              <a:ext uri="{FF2B5EF4-FFF2-40B4-BE49-F238E27FC236}">
                <a16:creationId xmlns:a16="http://schemas.microsoft.com/office/drawing/2014/main" id="{37A51B4F-1834-9F54-74FE-B23E68FAC27B}"/>
              </a:ext>
            </a:extLst>
          </p:cNvPr>
          <p:cNvSpPr txBox="1">
            <a:spLocks/>
          </p:cNvSpPr>
          <p:nvPr/>
        </p:nvSpPr>
        <p:spPr>
          <a:xfrm>
            <a:off x="609600" y="1600201"/>
            <a:ext cx="109728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PH" dirty="0"/>
          </a:p>
        </p:txBody>
      </p:sp>
      <p:sp>
        <p:nvSpPr>
          <p:cNvPr id="5" name="Content Placeholder 2">
            <a:extLst>
              <a:ext uri="{FF2B5EF4-FFF2-40B4-BE49-F238E27FC236}">
                <a16:creationId xmlns:a16="http://schemas.microsoft.com/office/drawing/2014/main" id="{D1C544FB-7912-F165-A96E-C5575E37D0DC}"/>
              </a:ext>
            </a:extLst>
          </p:cNvPr>
          <p:cNvSpPr txBox="1">
            <a:spLocks/>
          </p:cNvSpPr>
          <p:nvPr/>
        </p:nvSpPr>
        <p:spPr>
          <a:xfrm>
            <a:off x="762000" y="1752601"/>
            <a:ext cx="109728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PH" dirty="0"/>
              <a:t>AI Model</a:t>
            </a:r>
          </a:p>
        </p:txBody>
      </p:sp>
    </p:spTree>
    <p:extLst>
      <p:ext uri="{BB962C8B-B14F-4D97-AF65-F5344CB8AC3E}">
        <p14:creationId xmlns:p14="http://schemas.microsoft.com/office/powerpoint/2010/main" val="1554545381"/>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User Interface</a:t>
            </a:r>
          </a:p>
        </p:txBody>
      </p:sp>
      <p:sp>
        <p:nvSpPr>
          <p:cNvPr id="3" name="Content Placeholder 2"/>
          <p:cNvSpPr>
            <a:spLocks noGrp="1"/>
          </p:cNvSpPr>
          <p:nvPr>
            <p:ph idx="4294967295"/>
          </p:nvPr>
        </p:nvSpPr>
        <p:spPr>
          <a:xfrm>
            <a:off x="609600" y="1600201"/>
            <a:ext cx="10972800" cy="4525963"/>
          </a:xfrm>
        </p:spPr>
        <p:txBody>
          <a:bodyPr/>
          <a:lstStyle/>
          <a:p>
            <a:endParaRPr dirty="0"/>
          </a:p>
        </p:txBody>
      </p:sp>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Testing</a:t>
            </a:r>
          </a:p>
        </p:txBody>
      </p:sp>
      <p:graphicFrame>
        <p:nvGraphicFramePr>
          <p:cNvPr id="5" name="Table 4">
            <a:extLst>
              <a:ext uri="{FF2B5EF4-FFF2-40B4-BE49-F238E27FC236}">
                <a16:creationId xmlns:a16="http://schemas.microsoft.com/office/drawing/2014/main" id="{597CE7D2-7D96-F3E8-7896-300456E6E305}"/>
              </a:ext>
            </a:extLst>
          </p:cNvPr>
          <p:cNvGraphicFramePr>
            <a:graphicFrameLocks noGrp="1"/>
          </p:cNvGraphicFramePr>
          <p:nvPr>
            <p:extLst>
              <p:ext uri="{D42A27DB-BD31-4B8C-83A1-F6EECF244321}">
                <p14:modId xmlns:p14="http://schemas.microsoft.com/office/powerpoint/2010/main" val="1863574289"/>
              </p:ext>
            </p:extLst>
          </p:nvPr>
        </p:nvGraphicFramePr>
        <p:xfrm>
          <a:off x="609600" y="1511550"/>
          <a:ext cx="10239909" cy="2595880"/>
        </p:xfrm>
        <a:graphic>
          <a:graphicData uri="http://schemas.openxmlformats.org/drawingml/2006/table">
            <a:tbl>
              <a:tblPr firstRow="1" bandRow="1">
                <a:tableStyleId>{5940675A-B579-460E-94D1-54222C63F5DA}</a:tableStyleId>
              </a:tblPr>
              <a:tblGrid>
                <a:gridCol w="3911029">
                  <a:extLst>
                    <a:ext uri="{9D8B030D-6E8A-4147-A177-3AD203B41FA5}">
                      <a16:colId xmlns:a16="http://schemas.microsoft.com/office/drawing/2014/main" val="2973197974"/>
                    </a:ext>
                  </a:extLst>
                </a:gridCol>
                <a:gridCol w="4181582">
                  <a:extLst>
                    <a:ext uri="{9D8B030D-6E8A-4147-A177-3AD203B41FA5}">
                      <a16:colId xmlns:a16="http://schemas.microsoft.com/office/drawing/2014/main" val="211944209"/>
                    </a:ext>
                  </a:extLst>
                </a:gridCol>
                <a:gridCol w="2147298">
                  <a:extLst>
                    <a:ext uri="{9D8B030D-6E8A-4147-A177-3AD203B41FA5}">
                      <a16:colId xmlns:a16="http://schemas.microsoft.com/office/drawing/2014/main" val="640626244"/>
                    </a:ext>
                  </a:extLst>
                </a:gridCol>
              </a:tblGrid>
              <a:tr h="370840">
                <a:tc>
                  <a:txBody>
                    <a:bodyPr/>
                    <a:lstStyle/>
                    <a:p>
                      <a:pPr algn="ctr"/>
                      <a:r>
                        <a:rPr lang="en-PH" sz="1800" dirty="0">
                          <a:solidFill>
                            <a:schemeClr val="bg1"/>
                          </a:solidFill>
                          <a:latin typeface="Arial" panose="020B0604020202020204" pitchFamily="34" charset="0"/>
                          <a:cs typeface="Arial" panose="020B0604020202020204" pitchFamily="34" charset="0"/>
                        </a:rPr>
                        <a:t>Key Activity</a:t>
                      </a:r>
                    </a:p>
                  </a:txBody>
                  <a:tcPr anchor="ctr">
                    <a:solidFill>
                      <a:srgbClr val="7E0000"/>
                    </a:solidFill>
                  </a:tcPr>
                </a:tc>
                <a:tc>
                  <a:txBody>
                    <a:bodyPr/>
                    <a:lstStyle/>
                    <a:p>
                      <a:pPr algn="ctr"/>
                      <a:r>
                        <a:rPr lang="en-PH" sz="1800" dirty="0">
                          <a:solidFill>
                            <a:schemeClr val="bg1"/>
                          </a:solidFill>
                          <a:latin typeface="Arial" panose="020B0604020202020204" pitchFamily="34" charset="0"/>
                          <a:cs typeface="Arial" panose="020B0604020202020204" pitchFamily="34" charset="0"/>
                        </a:rPr>
                        <a:t>Results</a:t>
                      </a:r>
                    </a:p>
                  </a:txBody>
                  <a:tcPr anchor="ctr">
                    <a:solidFill>
                      <a:srgbClr val="7E0000"/>
                    </a:solidFill>
                  </a:tcPr>
                </a:tc>
                <a:tc>
                  <a:txBody>
                    <a:bodyPr/>
                    <a:lstStyle/>
                    <a:p>
                      <a:pPr algn="ctr"/>
                      <a:r>
                        <a:rPr lang="en-PH" sz="1800" dirty="0">
                          <a:solidFill>
                            <a:schemeClr val="bg1"/>
                          </a:solidFill>
                          <a:latin typeface="Arial" panose="020B0604020202020204" pitchFamily="34" charset="0"/>
                          <a:cs typeface="Arial" panose="020B0604020202020204" pitchFamily="34" charset="0"/>
                        </a:rPr>
                        <a:t>Status</a:t>
                      </a:r>
                    </a:p>
                  </a:txBody>
                  <a:tcPr anchor="ctr">
                    <a:solidFill>
                      <a:srgbClr val="7E0000"/>
                    </a:solidFill>
                  </a:tcPr>
                </a:tc>
                <a:extLst>
                  <a:ext uri="{0D108BD9-81ED-4DB2-BD59-A6C34878D82A}">
                    <a16:rowId xmlns:a16="http://schemas.microsoft.com/office/drawing/2014/main" val="38945547"/>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86891160"/>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49190214"/>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14983783"/>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90192759"/>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01922941"/>
                  </a:ext>
                </a:extLst>
              </a:tr>
              <a:tr h="370840">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tc>
                  <a:txBody>
                    <a:bodyPr/>
                    <a:lstStyle/>
                    <a:p>
                      <a:endParaRPr lang="en-PH"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27751756"/>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1DC93-C98F-B80F-B851-C8E7F5A67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CDF5-21CA-B3D9-7FAC-0B949BE97FCE}"/>
              </a:ext>
            </a:extLst>
          </p:cNvPr>
          <p:cNvSpPr>
            <a:spLocks noGrp="1"/>
          </p:cNvSpPr>
          <p:nvPr>
            <p:ph type="ctrTitle"/>
          </p:nvPr>
        </p:nvSpPr>
        <p:spPr>
          <a:xfrm>
            <a:off x="1430632" y="2801148"/>
            <a:ext cx="10363200" cy="1470025"/>
          </a:xfrm>
        </p:spPr>
        <p:txBody>
          <a:bodyPr>
            <a:normAutofit fontScale="90000"/>
          </a:bodyPr>
          <a:lstStyle/>
          <a:p>
            <a:r>
              <a:rPr lang="en-PH" sz="7200" dirty="0"/>
              <a:t>Product</a:t>
            </a:r>
            <a:br>
              <a:rPr lang="en-PH" sz="7200" dirty="0"/>
            </a:br>
            <a:r>
              <a:rPr lang="en-PH" sz="7200" dirty="0"/>
              <a:t>Demonstration</a:t>
            </a:r>
          </a:p>
        </p:txBody>
      </p:sp>
    </p:spTree>
    <p:extLst>
      <p:ext uri="{BB962C8B-B14F-4D97-AF65-F5344CB8AC3E}">
        <p14:creationId xmlns:p14="http://schemas.microsoft.com/office/powerpoint/2010/main" val="2731656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Users’ </a:t>
            </a:r>
            <a:r>
              <a:rPr dirty="0"/>
              <a:t>Evaluation</a:t>
            </a:r>
          </a:p>
        </p:txBody>
      </p:sp>
      <p:sp>
        <p:nvSpPr>
          <p:cNvPr id="3" name="TextBox 2">
            <a:extLst>
              <a:ext uri="{FF2B5EF4-FFF2-40B4-BE49-F238E27FC236}">
                <a16:creationId xmlns:a16="http://schemas.microsoft.com/office/drawing/2014/main" id="{638F6BFB-270C-2CCB-2BB7-5FC397093BAF}"/>
              </a:ext>
            </a:extLst>
          </p:cNvPr>
          <p:cNvSpPr txBox="1"/>
          <p:nvPr/>
        </p:nvSpPr>
        <p:spPr>
          <a:xfrm>
            <a:off x="1127760" y="1574397"/>
            <a:ext cx="5110994" cy="4493538"/>
          </a:xfrm>
          <a:prstGeom prst="rect">
            <a:avLst/>
          </a:prstGeom>
          <a:noFill/>
        </p:spPr>
        <p:txBody>
          <a:bodyPr wrap="square" rtlCol="0">
            <a:spAutoFit/>
          </a:bodyPr>
          <a:lstStyle/>
          <a:p>
            <a:r>
              <a:rPr lang="en-US" sz="2200" dirty="0"/>
              <a:t>During the product demonstration of </a:t>
            </a:r>
          </a:p>
          <a:p>
            <a:r>
              <a:rPr lang="en-US" sz="2200" i="1" dirty="0"/>
              <a:t>Auto-</a:t>
            </a:r>
            <a:r>
              <a:rPr lang="en-US" sz="2200" i="1" dirty="0" err="1"/>
              <a:t>ComPAnIon</a:t>
            </a:r>
            <a:r>
              <a:rPr lang="en-US" sz="2200" dirty="0"/>
              <a:t>, the client expressed positive feedback, particularly valuing the shift from manual transaction logging to a digitalized POS and Inventory system with predictive features. The system achieved an overall mean score of </a:t>
            </a:r>
            <a:r>
              <a:rPr lang="en-US" sz="2200" i="1" dirty="0"/>
              <a:t>4.32</a:t>
            </a:r>
            <a:r>
              <a:rPr lang="en-US" sz="2200" dirty="0"/>
              <a:t> based on an ISO 25010 model, indicating an </a:t>
            </a:r>
            <a:r>
              <a:rPr lang="en-US" sz="2200" i="1" dirty="0"/>
              <a:t>Effective to Very Effective level</a:t>
            </a:r>
            <a:r>
              <a:rPr lang="en-US" sz="2200" b="1" dirty="0"/>
              <a:t> </a:t>
            </a:r>
            <a:r>
              <a:rPr lang="en-US" sz="2200" dirty="0"/>
              <a:t>across key quality attributes. This suggests that the system is reliable, user-friendly, and functionally suitable for improving their operational efficiency.</a:t>
            </a:r>
            <a:endParaRPr lang="en-PH" sz="2200" dirty="0"/>
          </a:p>
        </p:txBody>
      </p:sp>
      <p:pic>
        <p:nvPicPr>
          <p:cNvPr id="5" name="Picture 4">
            <a:extLst>
              <a:ext uri="{FF2B5EF4-FFF2-40B4-BE49-F238E27FC236}">
                <a16:creationId xmlns:a16="http://schemas.microsoft.com/office/drawing/2014/main" id="{78F2CAF1-0644-CE85-EB06-360F49094FE6}"/>
              </a:ext>
            </a:extLst>
          </p:cNvPr>
          <p:cNvPicPr>
            <a:picLocks noChangeAspect="1"/>
          </p:cNvPicPr>
          <p:nvPr/>
        </p:nvPicPr>
        <p:blipFill>
          <a:blip r:embed="rId3"/>
          <a:stretch>
            <a:fillRect/>
          </a:stretch>
        </p:blipFill>
        <p:spPr>
          <a:xfrm>
            <a:off x="6614478" y="1539553"/>
            <a:ext cx="4449762" cy="4449762"/>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Enhancements</a:t>
            </a:r>
          </a:p>
        </p:txBody>
      </p:sp>
      <p:sp>
        <p:nvSpPr>
          <p:cNvPr id="4" name="Rectangle 1">
            <a:extLst>
              <a:ext uri="{FF2B5EF4-FFF2-40B4-BE49-F238E27FC236}">
                <a16:creationId xmlns:a16="http://schemas.microsoft.com/office/drawing/2014/main" id="{D8AE94FD-C220-5AC3-D24A-80B397673B3D}"/>
              </a:ext>
            </a:extLst>
          </p:cNvPr>
          <p:cNvSpPr>
            <a:spLocks noGrp="1" noChangeArrowheads="1"/>
          </p:cNvSpPr>
          <p:nvPr>
            <p:ph idx="4294967295"/>
          </p:nvPr>
        </p:nvSpPr>
        <p:spPr bwMode="auto">
          <a:xfrm>
            <a:off x="945266" y="1144668"/>
            <a:ext cx="1047894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1. Quality of Life Improvements</a:t>
            </a:r>
            <a:r>
              <a:rPr kumimoji="0" lang="en-US" altLang="en-US" sz="2400" i="0" u="none" strike="noStrike" cap="none" normalizeH="0" baseline="0" dirty="0">
                <a:ln>
                  <a:noFill/>
                </a:ln>
                <a:solidFill>
                  <a:schemeClr val="tx1"/>
                </a:solidFill>
                <a:effectLst/>
              </a:rPr>
              <a:t> </a:t>
            </a:r>
          </a:p>
          <a:p>
            <a:pPr lvl="1" indent="-342900" defTabSz="914400" eaLnBrk="0" fontAlgn="base" hangingPunct="0">
              <a:spcBef>
                <a:spcPct val="0"/>
              </a:spcBef>
              <a:spcAft>
                <a:spcPct val="0"/>
              </a:spcAft>
              <a:buFont typeface="Wingdings" panose="05000000000000000000" pitchFamily="2" charset="2"/>
              <a:buChar char="q"/>
            </a:pPr>
            <a:r>
              <a:rPr lang="en-US" altLang="en-US" sz="2400" dirty="0"/>
              <a:t>I</a:t>
            </a:r>
            <a:r>
              <a:rPr kumimoji="0" lang="en-US" altLang="en-US" sz="2400" b="0" i="0" u="none" strike="noStrike" cap="none" normalizeH="0" baseline="0" dirty="0">
                <a:ln>
                  <a:noFill/>
                </a:ln>
                <a:solidFill>
                  <a:schemeClr val="tx1"/>
                </a:solidFill>
                <a:effectLst/>
              </a:rPr>
              <a:t>mplementation of auto-fill features for repetitive inputs in business logs </a:t>
            </a:r>
          </a:p>
          <a:p>
            <a:pPr lvl="1" indent="-342900" defTabSz="9144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rPr>
              <a:t>Addition of status tracking for purchase orders to improve workflow visibility.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2. Confidence Score</a:t>
            </a:r>
          </a:p>
          <a:p>
            <a:pPr lvl="1" defTabSz="9144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rPr>
              <a:t>Introduction of a metric that indicates the reliability or confidence level of AI-generated predictions.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3. Prediction Accuracy Assessment </a:t>
            </a:r>
            <a:r>
              <a:rPr kumimoji="0" lang="en-US" altLang="en-US" sz="2400" b="0" i="0" u="none" strike="noStrike" cap="none" normalizeH="0" baseline="0" dirty="0">
                <a:ln>
                  <a:noFill/>
                </a:ln>
                <a:solidFill>
                  <a:schemeClr val="tx1"/>
                </a:solidFill>
                <a:effectLst/>
              </a:rPr>
              <a:t> </a:t>
            </a:r>
          </a:p>
          <a:p>
            <a:pPr lvl="1" defTabSz="9144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rPr>
              <a:t>Development of a feature to compare predicted values against actual outcomes to evaluate model performance.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rPr>
              <a:t>4. AI Model Enhancement</a:t>
            </a:r>
            <a:r>
              <a:rPr kumimoji="0" lang="en-US" altLang="en-US" sz="2400" b="0" i="0" u="none" strike="noStrike" cap="none" normalizeH="0" baseline="0" dirty="0">
                <a:ln>
                  <a:noFill/>
                </a:ln>
                <a:solidFill>
                  <a:schemeClr val="tx1"/>
                </a:solidFill>
                <a:effectLst/>
              </a:rPr>
              <a:t> </a:t>
            </a:r>
          </a:p>
          <a:p>
            <a:pPr lvl="1" defTabSz="914400" eaLnBrk="0" fontAlgn="base" hangingPunct="0">
              <a:spcBef>
                <a:spcPct val="0"/>
              </a:spcBef>
              <a:spcAft>
                <a:spcPct val="0"/>
              </a:spcAft>
              <a:buFont typeface="Wingdings" panose="05000000000000000000" pitchFamily="2" charset="2"/>
              <a:buChar char="q"/>
            </a:pPr>
            <a:r>
              <a:rPr kumimoji="0" lang="en-US" altLang="en-US" sz="2400" b="0" i="0" u="none" strike="noStrike" cap="none" normalizeH="0" baseline="0" dirty="0">
                <a:ln>
                  <a:noFill/>
                </a:ln>
                <a:solidFill>
                  <a:schemeClr val="tx1"/>
                </a:solidFill>
                <a:effectLst/>
              </a:rPr>
              <a:t>Transition from a regression-based model to a reinforcement learning approach to improve adaptability and prediction accuracy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4294967295"/>
          </p:nvPr>
        </p:nvSpPr>
        <p:spPr>
          <a:xfrm>
            <a:off x="736921" y="1707005"/>
            <a:ext cx="10972800" cy="4525963"/>
          </a:xfrm>
        </p:spPr>
        <p:txBody>
          <a:bodyPr/>
          <a:lstStyle/>
          <a:p>
            <a:pPr marL="0" indent="0">
              <a:buNone/>
            </a:pPr>
            <a:r>
              <a:rPr lang="en-US" i="1" dirty="0"/>
              <a:t>Auto-</a:t>
            </a:r>
            <a:r>
              <a:rPr lang="en-US" i="1" dirty="0" err="1"/>
              <a:t>ComPAnIon</a:t>
            </a:r>
            <a:r>
              <a:rPr lang="en-US" dirty="0"/>
              <a:t> successfully integrates POS, inventory management, and predictive analytics into a unified system designed for an auto supply shop. It enhances operational efficiency while enabling data-driven decision-making.</a:t>
            </a:r>
          </a:p>
          <a:p>
            <a:pPr marL="0" indent="0">
              <a:buNone/>
            </a:pPr>
            <a:r>
              <a:rPr lang="en-US" dirty="0"/>
              <a:t>Moving forward, continued improvements and exploration of advanced AI capabilities will further strengthen its role as a valuable business tool.</a:t>
            </a:r>
          </a:p>
        </p:txBody>
      </p:sp>
    </p:spTree>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24EA4-6419-42E8-C273-ADBF5F1A0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C50D6-EFCE-A5A0-6157-505B96E6F988}"/>
              </a:ext>
            </a:extLst>
          </p:cNvPr>
          <p:cNvSpPr>
            <a:spLocks noGrp="1"/>
          </p:cNvSpPr>
          <p:nvPr>
            <p:ph type="ctrTitle"/>
          </p:nvPr>
        </p:nvSpPr>
        <p:spPr>
          <a:xfrm>
            <a:off x="1430632" y="2801148"/>
            <a:ext cx="10363200" cy="1470025"/>
          </a:xfrm>
        </p:spPr>
        <p:txBody>
          <a:bodyPr>
            <a:normAutofit/>
          </a:bodyPr>
          <a:lstStyle/>
          <a:p>
            <a:r>
              <a:rPr lang="en-PH" sz="7200" dirty="0"/>
              <a:t>Questions?</a:t>
            </a:r>
          </a:p>
        </p:txBody>
      </p:sp>
    </p:spTree>
    <p:extLst>
      <p:ext uri="{BB962C8B-B14F-4D97-AF65-F5344CB8AC3E}">
        <p14:creationId xmlns:p14="http://schemas.microsoft.com/office/powerpoint/2010/main" val="548621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F095D-19F4-A89D-643F-55C55CDE2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FBE57-CD7B-D1EB-3504-F2DAF43029F8}"/>
              </a:ext>
            </a:extLst>
          </p:cNvPr>
          <p:cNvSpPr>
            <a:spLocks noGrp="1"/>
          </p:cNvSpPr>
          <p:nvPr>
            <p:ph type="ctrTitle"/>
          </p:nvPr>
        </p:nvSpPr>
        <p:spPr>
          <a:xfrm>
            <a:off x="1430632" y="2801148"/>
            <a:ext cx="10363200" cy="1470025"/>
          </a:xfrm>
        </p:spPr>
        <p:txBody>
          <a:bodyPr>
            <a:normAutofit/>
          </a:bodyPr>
          <a:lstStyle/>
          <a:p>
            <a:r>
              <a:rPr lang="en-PH" sz="7200" dirty="0"/>
              <a:t>Thank you!</a:t>
            </a:r>
          </a:p>
        </p:txBody>
      </p:sp>
    </p:spTree>
    <p:extLst>
      <p:ext uri="{BB962C8B-B14F-4D97-AF65-F5344CB8AC3E}">
        <p14:creationId xmlns:p14="http://schemas.microsoft.com/office/powerpoint/2010/main" val="2396740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C6EFF203044E04DA6B665C1ED2A54C5" ma:contentTypeVersion="3" ma:contentTypeDescription="Create a new document." ma:contentTypeScope="" ma:versionID="5d88287550578cf0ce9d20934580355f">
  <xsd:schema xmlns:xsd="http://www.w3.org/2001/XMLSchema" xmlns:xs="http://www.w3.org/2001/XMLSchema" xmlns:p="http://schemas.microsoft.com/office/2006/metadata/properties" xmlns:ns2="77f20dd6-fd60-4027-90d0-db7f77362ee2" targetNamespace="http://schemas.microsoft.com/office/2006/metadata/properties" ma:root="true" ma:fieldsID="3d169f1566a0e550c4112e25c2f55d61" ns2:_="">
    <xsd:import namespace="77f20dd6-fd60-4027-90d0-db7f77362ee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f20dd6-fd60-4027-90d0-db7f77362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F9C900-BA80-496B-B0FA-4D3835375C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f20dd6-fd60-4027-90d0-db7f77362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5C7BB48-8BEA-405F-9DCE-E719683F0181}">
  <ds:schemaRefs>
    <ds:schemaRef ds:uri="http://schemas.microsoft.com/sharepoint/v3/contenttype/forms"/>
  </ds:schemaRefs>
</ds:datastoreItem>
</file>

<file path=customXml/itemProps3.xml><?xml version="1.0" encoding="utf-8"?>
<ds:datastoreItem xmlns:ds="http://schemas.openxmlformats.org/officeDocument/2006/customXml" ds:itemID="{FF03FC3F-ACB3-4015-8F6B-5AC0C5B9DA3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254</TotalTime>
  <Words>335</Words>
  <Application>Microsoft Office PowerPoint</Application>
  <PresentationFormat>Widescreen</PresentationFormat>
  <Paragraphs>58</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Arial Black</vt:lpstr>
      <vt:lpstr>Calibri</vt:lpstr>
      <vt:lpstr>Wingdings</vt:lpstr>
      <vt:lpstr>Office Theme</vt:lpstr>
      <vt:lpstr>Project Title </vt:lpstr>
      <vt:lpstr>Project Overview</vt:lpstr>
      <vt:lpstr>Project Team and Required Tasks</vt:lpstr>
      <vt:lpstr>Current Business and Technical Situations</vt:lpstr>
      <vt:lpstr>Proposed Current and Technical Situations</vt:lpstr>
      <vt:lpstr>Objectives</vt:lpstr>
      <vt:lpstr>Benefits and Impact</vt:lpstr>
      <vt:lpstr>Project Milestones</vt:lpstr>
      <vt:lpstr>Constraints Analysis</vt:lpstr>
      <vt:lpstr>System Features</vt:lpstr>
      <vt:lpstr>AI / Data Analytics Utilization</vt:lpstr>
      <vt:lpstr>User Interface</vt:lpstr>
      <vt:lpstr>Testing</vt:lpstr>
      <vt:lpstr>Product Demonstration</vt:lpstr>
      <vt:lpstr>Users’ Evaluation</vt:lpstr>
      <vt:lpstr>Future Enhancements</vt:lpstr>
      <vt:lpstr>Conclusion</vt:lpstr>
      <vt:lpstr>Questions?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Shekinah Bolante</cp:lastModifiedBy>
  <cp:revision>12</cp:revision>
  <dcterms:created xsi:type="dcterms:W3CDTF">2013-01-27T09:14:16Z</dcterms:created>
  <dcterms:modified xsi:type="dcterms:W3CDTF">2026-04-27T14:40:01Z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0x0101005C6EFF203044E04DA6B665C1ED2A54C5</vt:lpwstr>
  </property>
</Properties>
</file>